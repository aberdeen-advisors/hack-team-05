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CJ's framing for this pass: judges are not looking for a beautiful deck first. They want a real, tested build with a clear user, a clear workflow, strong business value and a credible path to being useful for Aberdeen or its clients. Read the four slides against that list.</a:t>
            </a:r>
          </a:p>
          <a:p/>
          <a:p>
            <a:r>
              <a:t>CJ's idea #1 — become the "Least Painful Consulting Firm in America." Most clients quietly dislike consulting projects: too many meetings, too many slides, too much jargon, too much complexity, and consultants who take information but never give any back. The common denominator we are after is not just humour, humanity and quality — remarkably easy, remarkably human, remarkably memorable.</a:t>
            </a:r>
          </a:p>
          <a:p/>
          <a:p>
            <a:r>
              <a:t>Numbers on this slide (5-10 people, 1-2 weeks, 40+ hours each) are CJ's illustration of a typical pursuit, not a measured Aberdeen baseline.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shape is CJ's brand argument turned into product behaviour. Instead of a 75-slide deck, the default deliverable is a two-page Executive Summary, a one-page Decision Guide, and the full analysis behind them. The seven-section skeleton is what gets drafted; this is the shape it comes out in.</a:t>
            </a:r>
          </a:p>
          <a:p/>
          <a:p>
            <a:r>
              <a:t>CJ's example of the same instinct applied to a meeting — instead of "Attached is the agenda", send: "Good news: we've done the homework. You don't need to prepare anything. We'll bring three recommendations and only need your reaction." The experience we are aiming for is "thank goodness, somebody made this simple."</a:t>
            </a:r>
          </a:p>
          <a:p/>
          <a:p>
            <a:r>
              <a:t>Culture Charter values behind "Why Aberdeen": low-ego, high-ownership partnership; relationship-driven engagement; agile, growth-minded teams; empowered, multidisciplinary teams.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Wayfarer Market Co. is one of the three mock RFPs in reference/mock-rfps. Walk the five steps live, then show the Pursuit Brief and the Proposal Starter side by side. Land the contrast CJ is after: the client gets something short and useful up front, with the depth available behind it, rather than a long document they have to mine.</a:t>
            </a:r>
          </a:p>
          <a:p/>
          <a:p>
            <a:r>
              <a:t>If asked what is not built yet: the credential and case-study library is the main dependency and is empty today. Say that plainly — it is on the pilot plan.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80% is CJ's target for the pilot to test, not an achieved result. Same for the 5-10 people / 1-2 weeks / 40+ hours figures on slide 1 — they are CJ's illustration of a typical pursuit. Do not present either as measured.</a:t>
            </a:r>
          </a:p>
          <a:p/>
          <a:p>
            <a:r>
              <a:t>CJ's brand promise, in full: "Working with Aberdeen should feel easier after every interaction." Every touchpoint should reduce stress, not add it. The experience we want is "thank goodness, somebody made this simple." Most firms market expertise; beloved brands market experience — that is the spine of this deck.</a:t>
            </a:r>
          </a:p>
          <a:p/>
          <a:p>
            <a:r>
              <a:t>Baselines get set during the pilot. Nothing is claimed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502920"/>
            <a:ext cx="11055096" cy="237744"/>
          </a:xfrm>
          <a:prstGeom prst="rect">
            <a:avLst/>
          </a:prstGeom>
          <a:noFill/>
        </p:spPr>
        <p:txBody>
          <a:bodyPr wrap="square" anchor="t" lIns="0" rIns="0" tIns="0" bIns="0">
            <a:spAutoFit/>
          </a:bodyPr>
          <a:lstStyle/>
          <a:p>
            <a:pPr algn="l"/>
            <a:r>
              <a:rPr sz="1150" b="1" i="0" spc="140">
                <a:solidFill>
                  <a:srgbClr val="C0642A"/>
                </a:solidFill>
                <a:latin typeface="Calibri"/>
              </a:rPr>
              <a:t>ABERDEEN HACKATHON  ·  TEAM 05</a:t>
            </a:r>
          </a:p>
        </p:txBody>
      </p:sp>
      <p:sp>
        <p:nvSpPr>
          <p:cNvPr id="4" name="TextBox 3"/>
          <p:cNvSpPr txBox="1"/>
          <p:nvPr/>
        </p:nvSpPr>
        <p:spPr>
          <a:xfrm>
            <a:off x="566928" y="786384"/>
            <a:ext cx="7863840" cy="640080"/>
          </a:xfrm>
          <a:prstGeom prst="rect">
            <a:avLst/>
          </a:prstGeom>
          <a:noFill/>
        </p:spPr>
        <p:txBody>
          <a:bodyPr wrap="square" anchor="t" lIns="0" rIns="0" tIns="0" bIns="0">
            <a:spAutoFit/>
          </a:bodyPr>
          <a:lstStyle/>
          <a:p>
            <a:pPr algn="l">
              <a:lnSpc>
                <a:spcPct val="95000"/>
              </a:lnSpc>
            </a:pPr>
            <a:r>
              <a:rPr sz="4000" b="1" i="0">
                <a:solidFill>
                  <a:srgbClr val="0F2540"/>
                </a:solidFill>
                <a:latin typeface="Calibri"/>
              </a:rPr>
              <a:t>RFP Pursuit Copilot</a:t>
            </a:r>
          </a:p>
        </p:txBody>
      </p:sp>
      <p:sp>
        <p:nvSpPr>
          <p:cNvPr id="5" name="TextBox 4"/>
          <p:cNvSpPr txBox="1"/>
          <p:nvPr/>
        </p:nvSpPr>
        <p:spPr>
          <a:xfrm>
            <a:off x="566928" y="1481328"/>
            <a:ext cx="8503920" cy="585216"/>
          </a:xfrm>
          <a:prstGeom prst="rect">
            <a:avLst/>
          </a:prstGeom>
          <a:noFill/>
        </p:spPr>
        <p:txBody>
          <a:bodyPr wrap="square" anchor="t" lIns="0" rIns="0" tIns="0" bIns="0">
            <a:spAutoFit/>
          </a:bodyPr>
          <a:lstStyle/>
          <a:p>
            <a:pPr algn="l">
              <a:lnSpc>
                <a:spcPct val="110000"/>
              </a:lnSpc>
            </a:pPr>
            <a:r>
              <a:rPr sz="1500" b="0" i="0">
                <a:solidFill>
                  <a:srgbClr val="4A5A6E"/>
                </a:solidFill>
                <a:latin typeface="Calibri"/>
              </a:rPr>
              <a:t>One action turns a 30–80 page RFP into a Pursuit Brief and a Proposal Starter — a real point of view on the client, plus the opening sections already drafted.</a:t>
            </a:r>
          </a:p>
        </p:txBody>
      </p:sp>
      <p:sp>
        <p:nvSpPr>
          <p:cNvPr id="6" name="Rectangle 5"/>
          <p:cNvSpPr/>
          <p:nvPr/>
        </p:nvSpPr>
        <p:spPr>
          <a:xfrm>
            <a:off x="566928" y="2139696"/>
            <a:ext cx="1371600" cy="41148"/>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66928" y="2395728"/>
            <a:ext cx="10424160" cy="457200"/>
          </a:xfrm>
          <a:prstGeom prst="rect">
            <a:avLst/>
          </a:prstGeom>
          <a:noFill/>
        </p:spPr>
        <p:txBody>
          <a:bodyPr wrap="square" anchor="t" lIns="0" rIns="0" tIns="0" bIns="0">
            <a:spAutoFit/>
          </a:bodyPr>
          <a:lstStyle/>
          <a:p>
            <a:pPr algn="l">
              <a:lnSpc>
                <a:spcPct val="98000"/>
              </a:lnSpc>
            </a:pPr>
            <a:r>
              <a:rPr sz="2700" b="1" i="0">
                <a:solidFill>
                  <a:srgbClr val="0F2540"/>
                </a:solidFill>
                <a:latin typeface="Calibri"/>
              </a:rPr>
              <a:t>Seven days to respond. And every bidder sounds the same.</a:t>
            </a:r>
          </a:p>
        </p:txBody>
      </p:sp>
      <p:sp>
        <p:nvSpPr>
          <p:cNvPr id="8" name="TextBox 7"/>
          <p:cNvSpPr txBox="1"/>
          <p:nvPr/>
        </p:nvSpPr>
        <p:spPr>
          <a:xfrm>
            <a:off x="566928" y="2889504"/>
            <a:ext cx="10424160" cy="530352"/>
          </a:xfrm>
          <a:prstGeom prst="rect">
            <a:avLst/>
          </a:prstGeom>
          <a:noFill/>
        </p:spPr>
        <p:txBody>
          <a:bodyPr wrap="square" anchor="t" lIns="0" rIns="0" tIns="0" bIns="0">
            <a:spAutoFit/>
          </a:bodyPr>
          <a:lstStyle/>
          <a:p>
            <a:pPr algn="l">
              <a:lnSpc>
                <a:spcPct val="110000"/>
              </a:lnSpc>
            </a:pPr>
            <a:r>
              <a:rPr sz="1400" b="1" i="0">
                <a:solidFill>
                  <a:srgbClr val="0F2540"/>
                </a:solidFill>
                <a:latin typeface="Calibri"/>
              </a:rPr>
              <a:t>A typical RFP response takes 5–10 people, 1–2 weeks, and 40+ hours each — the BD lead, a partner and the SMEs, all pulled off client work in the same week.</a:t>
            </a:r>
          </a:p>
        </p:txBody>
      </p:sp>
      <p:sp>
        <p:nvSpPr>
          <p:cNvPr id="9" name="Rectangle 8"/>
          <p:cNvSpPr/>
          <p:nvPr/>
        </p:nvSpPr>
        <p:spPr>
          <a:xfrm>
            <a:off x="566928" y="3547872"/>
            <a:ext cx="3502152" cy="122529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3749039"/>
            <a:ext cx="3026664" cy="82296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THE CLOCK</a:t>
            </a:r>
          </a:p>
          <a:p>
            <a:pPr algn="l">
              <a:lnSpc>
                <a:spcPct val="105000"/>
              </a:lnSpc>
              <a:spcAft>
                <a:spcPts val="0"/>
              </a:spcAft>
            </a:pPr>
            <a:r>
              <a:rPr sz="1350" b="0" i="0">
                <a:solidFill>
                  <a:srgbClr val="4A5A6E"/>
                </a:solidFill>
                <a:latin typeface="Calibri"/>
              </a:rPr>
              <a:t>The first 48 hours go to structure and boilerplate, not to the client.</a:t>
            </a:r>
          </a:p>
        </p:txBody>
      </p:sp>
      <p:sp>
        <p:nvSpPr>
          <p:cNvPr id="11" name="Rectangle 10"/>
          <p:cNvSpPr/>
          <p:nvPr/>
        </p:nvSpPr>
        <p:spPr>
          <a:xfrm>
            <a:off x="4343400" y="3547872"/>
            <a:ext cx="3502152" cy="122529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81144" y="3749039"/>
            <a:ext cx="3026664" cy="82296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THE SAMENESS</a:t>
            </a:r>
          </a:p>
          <a:p>
            <a:pPr algn="l">
              <a:lnSpc>
                <a:spcPct val="105000"/>
              </a:lnSpc>
              <a:spcAft>
                <a:spcPts val="0"/>
              </a:spcAft>
            </a:pPr>
            <a:r>
              <a:rPr sz="1350" b="0" i="0">
                <a:solidFill>
                  <a:srgbClr val="4A5A6E"/>
                </a:solidFill>
                <a:latin typeface="Calibri"/>
              </a:rPr>
              <a:t>Rivals send similar credentials and the same generic approach.</a:t>
            </a:r>
          </a:p>
        </p:txBody>
      </p:sp>
      <p:sp>
        <p:nvSpPr>
          <p:cNvPr id="13" name="Rectangle 12"/>
          <p:cNvSpPr/>
          <p:nvPr/>
        </p:nvSpPr>
        <p:spPr>
          <a:xfrm>
            <a:off x="8119872" y="3547872"/>
            <a:ext cx="3502152" cy="122529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357616" y="3749039"/>
            <a:ext cx="3026664" cy="82296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CLIENTS LOVE US</a:t>
            </a:r>
          </a:p>
          <a:p>
            <a:pPr algn="l">
              <a:lnSpc>
                <a:spcPct val="105000"/>
              </a:lnSpc>
              <a:spcAft>
                <a:spcPts val="0"/>
              </a:spcAft>
            </a:pPr>
            <a:r>
              <a:rPr sz="1350" b="0" i="0">
                <a:solidFill>
                  <a:srgbClr val="4A5A6E"/>
                </a:solidFill>
                <a:latin typeface="Calibri"/>
              </a:rPr>
              <a:t>We make things easy — everywhere but the scramble to win the work.</a:t>
            </a:r>
          </a:p>
        </p:txBody>
      </p:sp>
      <p:sp>
        <p:nvSpPr>
          <p:cNvPr id="15" name="Rectangle 14"/>
          <p:cNvSpPr/>
          <p:nvPr/>
        </p:nvSpPr>
        <p:spPr>
          <a:xfrm>
            <a:off x="566928" y="4992624"/>
            <a:ext cx="11055096" cy="914400"/>
          </a:xfrm>
          <a:prstGeom prst="rect">
            <a:avLst/>
          </a:prstGeom>
          <a:solidFill>
            <a:srgbClr val="0B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4992624"/>
            <a:ext cx="64008" cy="914400"/>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5138928"/>
            <a:ext cx="10433304" cy="621792"/>
          </a:xfrm>
          <a:prstGeom prst="rect">
            <a:avLst/>
          </a:prstGeom>
          <a:noFill/>
        </p:spPr>
        <p:txBody>
          <a:bodyPr wrap="square" anchor="t" lIns="0" rIns="0" tIns="0" bIns="0">
            <a:spAutoFit/>
          </a:bodyPr>
          <a:lstStyle/>
          <a:p>
            <a:pPr algn="l">
              <a:lnSpc>
                <a:spcPct val="114000"/>
              </a:lnSpc>
              <a:spcAft>
                <a:spcPts val="500"/>
              </a:spcAft>
            </a:pPr>
            <a:r>
              <a:rPr sz="1600" b="0" i="1">
                <a:solidFill>
                  <a:srgbClr val="FFFFFF"/>
                </a:solidFill>
                <a:latin typeface="Georgia"/>
              </a:rPr>
              <a:t>“Most consulting firms market expertise. Beloved brands market experience.”</a:t>
            </a:r>
          </a:p>
          <a:p>
            <a:pPr algn="l">
              <a:lnSpc>
                <a:spcPct val="110000"/>
              </a:lnSpc>
            </a:pPr>
            <a:r>
              <a:rPr sz="1250" b="0" i="0">
                <a:solidFill>
                  <a:srgbClr val="D9E1EA"/>
                </a:solidFill>
                <a:latin typeface="Calibri"/>
              </a:rPr>
              <a:t>Wayfarer Market Co.'s RFP explicitly rejects the cut-costs, loyalty-program, more-ads playbook.</a:t>
            </a:r>
          </a:p>
        </p:txBody>
      </p:sp>
      <p:sp>
        <p:nvSpPr>
          <p:cNvPr id="18" name="TextBox 17"/>
          <p:cNvSpPr txBox="1"/>
          <p:nvPr/>
        </p:nvSpPr>
        <p:spPr>
          <a:xfrm>
            <a:off x="566928" y="6272784"/>
            <a:ext cx="11055096" cy="256032"/>
          </a:xfrm>
          <a:prstGeom prst="rect">
            <a:avLst/>
          </a:prstGeom>
          <a:noFill/>
        </p:spPr>
        <p:txBody>
          <a:bodyPr wrap="square" anchor="t" lIns="0" rIns="0" tIns="0" bIns="0">
            <a:spAutoFit/>
          </a:bodyPr>
          <a:lstStyle/>
          <a:p>
            <a:pPr algn="l"/>
            <a:r>
              <a:rPr sz="1100" b="0" i="0">
                <a:solidFill>
                  <a:srgbClr val="4A5A6E"/>
                </a:solidFill>
                <a:latin typeface="Calibri"/>
              </a:rPr>
              <a:t>Carrie Stout  ·  CJ Johnson  ·  Jordan Cook  ·  Preetish Rath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75488"/>
            <a:ext cx="11055096" cy="237744"/>
          </a:xfrm>
          <a:prstGeom prst="rect">
            <a:avLst/>
          </a:prstGeom>
          <a:noFill/>
        </p:spPr>
        <p:txBody>
          <a:bodyPr wrap="square" anchor="t" lIns="0" rIns="0" tIns="0" bIns="0">
            <a:spAutoFit/>
          </a:bodyPr>
          <a:lstStyle/>
          <a:p>
            <a:pPr algn="l"/>
            <a:r>
              <a:rPr sz="1150" b="1" i="0" spc="120">
                <a:solidFill>
                  <a:srgbClr val="C0642A"/>
                </a:solidFill>
                <a:latin typeface="Calibri"/>
              </a:rPr>
              <a:t>THE SOLUTION  ·  RFP PURSUIT COPILOT</a:t>
            </a:r>
          </a:p>
        </p:txBody>
      </p:sp>
      <p:sp>
        <p:nvSpPr>
          <p:cNvPr id="4" name="TextBox 3"/>
          <p:cNvSpPr txBox="1"/>
          <p:nvPr/>
        </p:nvSpPr>
        <p:spPr>
          <a:xfrm>
            <a:off x="566928" y="786384"/>
            <a:ext cx="11055096" cy="566928"/>
          </a:xfrm>
          <a:prstGeom prst="rect">
            <a:avLst/>
          </a:prstGeom>
          <a:noFill/>
        </p:spPr>
        <p:txBody>
          <a:bodyPr wrap="square" anchor="t" lIns="0" rIns="0" tIns="0" bIns="0">
            <a:spAutoFit/>
          </a:bodyPr>
          <a:lstStyle/>
          <a:p>
            <a:pPr algn="l">
              <a:lnSpc>
                <a:spcPct val="95000"/>
              </a:lnSpc>
            </a:pPr>
            <a:r>
              <a:rPr sz="3000" b="1" i="0">
                <a:solidFill>
                  <a:srgbClr val="0F2540"/>
                </a:solidFill>
                <a:latin typeface="Calibri"/>
              </a:rPr>
              <a:t>Upload the RFP. Get a point of view, not a template.</a:t>
            </a:r>
          </a:p>
        </p:txBody>
      </p:sp>
      <p:sp>
        <p:nvSpPr>
          <p:cNvPr id="5" name="Rectangle 4"/>
          <p:cNvSpPr/>
          <p:nvPr/>
        </p:nvSpPr>
        <p:spPr>
          <a:xfrm>
            <a:off x="566928" y="1499616"/>
            <a:ext cx="1371600" cy="41148"/>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424160" y="6382512"/>
            <a:ext cx="1197864" cy="237744"/>
          </a:xfrm>
          <a:prstGeom prst="rect">
            <a:avLst/>
          </a:prstGeom>
          <a:noFill/>
        </p:spPr>
        <p:txBody>
          <a:bodyPr wrap="square" anchor="t" lIns="0" rIns="0" tIns="0" bIns="0">
            <a:spAutoFit/>
          </a:bodyPr>
          <a:lstStyle/>
          <a:p>
            <a:pPr algn="r"/>
            <a:r>
              <a:rPr sz="1000" b="0" i="0">
                <a:solidFill>
                  <a:srgbClr val="4A5A6E"/>
                </a:solidFill>
                <a:latin typeface="Calibri"/>
              </a:rPr>
              <a:t>2 / 4</a:t>
            </a:r>
          </a:p>
        </p:txBody>
      </p:sp>
      <p:sp>
        <p:nvSpPr>
          <p:cNvPr id="7" name="Rectangle 6"/>
          <p:cNvSpPr/>
          <p:nvPr/>
        </p:nvSpPr>
        <p:spPr>
          <a:xfrm>
            <a:off x="566928" y="1773936"/>
            <a:ext cx="3550615" cy="1024128"/>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773936"/>
            <a:ext cx="3550615" cy="50292"/>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1975104"/>
            <a:ext cx="3184855" cy="694944"/>
          </a:xfrm>
          <a:prstGeom prst="rect">
            <a:avLst/>
          </a:prstGeom>
          <a:noFill/>
        </p:spPr>
        <p:txBody>
          <a:bodyPr wrap="square" anchor="t" lIns="0" rIns="0" tIns="0" bIns="0">
            <a:spAutoFit/>
          </a:bodyPr>
          <a:lstStyle/>
          <a:p>
            <a:pPr algn="l">
              <a:spcAft>
                <a:spcPts val="500"/>
              </a:spcAft>
            </a:pPr>
            <a:r>
              <a:rPr sz="1150" b="1" i="0" spc="80">
                <a:solidFill>
                  <a:srgbClr val="C0642A"/>
                </a:solidFill>
                <a:latin typeface="Calibri"/>
              </a:rPr>
              <a:t>01  INGEST</a:t>
            </a:r>
          </a:p>
          <a:p>
            <a:pPr algn="l">
              <a:lnSpc>
                <a:spcPct val="105000"/>
              </a:lnSpc>
            </a:pPr>
            <a:r>
              <a:rPr sz="1250" b="0" i="0">
                <a:solidFill>
                  <a:srgbClr val="0F2540"/>
                </a:solidFill>
                <a:latin typeface="Calibri"/>
              </a:rPr>
              <a:t>The RFP, plus Aberdeen credentials, prior proposals and case studies.</a:t>
            </a:r>
          </a:p>
        </p:txBody>
      </p:sp>
      <p:sp>
        <p:nvSpPr>
          <p:cNvPr id="10" name="Rectangle 9"/>
          <p:cNvSpPr/>
          <p:nvPr/>
        </p:nvSpPr>
        <p:spPr>
          <a:xfrm>
            <a:off x="4319168" y="1773936"/>
            <a:ext cx="3550615" cy="1024128"/>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319168" y="1773936"/>
            <a:ext cx="3550615" cy="50292"/>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02048" y="1975104"/>
            <a:ext cx="3184855" cy="694944"/>
          </a:xfrm>
          <a:prstGeom prst="rect">
            <a:avLst/>
          </a:prstGeom>
          <a:noFill/>
        </p:spPr>
        <p:txBody>
          <a:bodyPr wrap="square" anchor="t" lIns="0" rIns="0" tIns="0" bIns="0">
            <a:spAutoFit/>
          </a:bodyPr>
          <a:lstStyle/>
          <a:p>
            <a:pPr algn="l">
              <a:spcAft>
                <a:spcPts val="500"/>
              </a:spcAft>
            </a:pPr>
            <a:r>
              <a:rPr sz="1150" b="1" i="0" spc="80">
                <a:solidFill>
                  <a:srgbClr val="C0642A"/>
                </a:solidFill>
                <a:latin typeface="Calibri"/>
              </a:rPr>
              <a:t>02  ANALYZE</a:t>
            </a:r>
          </a:p>
          <a:p>
            <a:pPr algn="l">
              <a:lnSpc>
                <a:spcPct val="105000"/>
              </a:lnSpc>
            </a:pPr>
            <a:r>
              <a:rPr sz="1250" b="0" i="0">
                <a:solidFill>
                  <a:srgbClr val="0F2540"/>
                </a:solidFill>
                <a:latin typeface="Calibri"/>
              </a:rPr>
              <a:t>One action: Analyze Opportunity. No forms, no prompt craft.</a:t>
            </a:r>
          </a:p>
        </p:txBody>
      </p:sp>
      <p:sp>
        <p:nvSpPr>
          <p:cNvPr id="13" name="Rectangle 12"/>
          <p:cNvSpPr/>
          <p:nvPr/>
        </p:nvSpPr>
        <p:spPr>
          <a:xfrm>
            <a:off x="8071408" y="1773936"/>
            <a:ext cx="3550615" cy="1024128"/>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71408" y="1773936"/>
            <a:ext cx="3550615" cy="50292"/>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54288" y="1975104"/>
            <a:ext cx="3184855" cy="694944"/>
          </a:xfrm>
          <a:prstGeom prst="rect">
            <a:avLst/>
          </a:prstGeom>
          <a:noFill/>
        </p:spPr>
        <p:txBody>
          <a:bodyPr wrap="square" anchor="t" lIns="0" rIns="0" tIns="0" bIns="0">
            <a:spAutoFit/>
          </a:bodyPr>
          <a:lstStyle/>
          <a:p>
            <a:pPr algn="l">
              <a:spcAft>
                <a:spcPts val="500"/>
              </a:spcAft>
            </a:pPr>
            <a:r>
              <a:rPr sz="1150" b="1" i="0" spc="80">
                <a:solidFill>
                  <a:srgbClr val="C0642A"/>
                </a:solidFill>
                <a:latin typeface="Calibri"/>
              </a:rPr>
              <a:t>03  DRAFT</a:t>
            </a:r>
          </a:p>
          <a:p>
            <a:pPr algn="l">
              <a:lnSpc>
                <a:spcPct val="105000"/>
              </a:lnSpc>
            </a:pPr>
            <a:r>
              <a:rPr sz="1250" b="0" i="0">
                <a:solidFill>
                  <a:srgbClr val="0F2540"/>
                </a:solidFill>
                <a:latin typeface="Calibri"/>
              </a:rPr>
              <a:t>Out comes a Pursuit Brief and a Proposal Starter.</a:t>
            </a:r>
          </a:p>
        </p:txBody>
      </p:sp>
      <p:sp>
        <p:nvSpPr>
          <p:cNvPr id="16" name="Rectangle 15"/>
          <p:cNvSpPr/>
          <p:nvPr/>
        </p:nvSpPr>
        <p:spPr>
          <a:xfrm>
            <a:off x="566928" y="3035808"/>
            <a:ext cx="6309360" cy="3017520"/>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 y="3236976"/>
            <a:ext cx="5833872" cy="2615184"/>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WHAT IT HANDS YOU</a:t>
            </a:r>
          </a:p>
          <a:p>
            <a:pPr algn="l">
              <a:lnSpc>
                <a:spcPct val="105000"/>
              </a:lnSpc>
              <a:spcAft>
                <a:spcPts val="800"/>
              </a:spcAft>
            </a:pPr>
            <a:r>
              <a:rPr sz="1300" b="0" i="0">
                <a:solidFill>
                  <a:srgbClr val="4A5A6E"/>
                </a:solidFill>
                <a:latin typeface="Calibri"/>
              </a:rPr>
              <a:t>Who the client is, in their words — objectives, constraints, red lines.</a:t>
            </a:r>
          </a:p>
          <a:p>
            <a:pPr algn="l">
              <a:lnSpc>
                <a:spcPct val="105000"/>
              </a:lnSpc>
              <a:spcAft>
                <a:spcPts val="800"/>
              </a:spcAft>
            </a:pPr>
            <a:r>
              <a:rPr sz="1300" b="0" i="0">
                <a:solidFill>
                  <a:srgbClr val="4A5A6E"/>
                </a:solidFill>
                <a:latin typeface="Calibri"/>
              </a:rPr>
              <a:t>The three most relevant case studies and credentials, each with a relevance match and a line on why it is relevant.</a:t>
            </a:r>
          </a:p>
          <a:p>
            <a:pPr algn="l">
              <a:lnSpc>
                <a:spcPct val="105000"/>
              </a:lnSpc>
              <a:spcAft>
                <a:spcPts val="800"/>
              </a:spcAft>
            </a:pPr>
            <a:r>
              <a:rPr sz="1300" b="0" i="0">
                <a:solidFill>
                  <a:srgbClr val="4A5A6E"/>
                </a:solidFill>
                <a:latin typeface="Calibri"/>
              </a:rPr>
              <a:t>Three win themes and differentiators, from Aberdeen's own knowledge base.</a:t>
            </a:r>
          </a:p>
          <a:p>
            <a:pPr algn="l">
              <a:lnSpc>
                <a:spcPct val="105000"/>
              </a:lnSpc>
              <a:spcAft>
                <a:spcPts val="800"/>
              </a:spcAft>
            </a:pPr>
            <a:r>
              <a:rPr sz="1300" b="0" i="0">
                <a:solidFill>
                  <a:srgbClr val="4A5A6E"/>
                </a:solidFill>
                <a:latin typeface="Calibri"/>
              </a:rPr>
              <a:t>A seven-section proposal skeleton — Executive Summary, Our Understanding, Approach, Relevant Experience, Team, Timeline, Why Aberdeen — with first-draft copy for the opening two or three.</a:t>
            </a:r>
          </a:p>
          <a:p>
            <a:pPr algn="l">
              <a:lnSpc>
                <a:spcPct val="105000"/>
              </a:lnSpc>
              <a:spcAft>
                <a:spcPts val="0"/>
              </a:spcAft>
            </a:pPr>
            <a:r>
              <a:rPr sz="1300" b="0" i="0">
                <a:solidFill>
                  <a:srgbClr val="4A5A6E"/>
                </a:solidFill>
                <a:latin typeface="Calibri"/>
              </a:rPr>
              <a:t>A Response Action per requirement: what it asks of us.</a:t>
            </a:r>
          </a:p>
        </p:txBody>
      </p:sp>
      <p:sp>
        <p:nvSpPr>
          <p:cNvPr id="18" name="Rectangle 17"/>
          <p:cNvSpPr/>
          <p:nvPr/>
        </p:nvSpPr>
        <p:spPr>
          <a:xfrm>
            <a:off x="7269480" y="3035808"/>
            <a:ext cx="4352544" cy="3017520"/>
          </a:xfrm>
          <a:prstGeom prst="rect">
            <a:avLst/>
          </a:prstGeom>
          <a:solidFill>
            <a:srgbClr val="0B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7269480" y="3035808"/>
            <a:ext cx="4352544" cy="64008"/>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507224" y="3273552"/>
            <a:ext cx="3877056" cy="2615184"/>
          </a:xfrm>
          <a:prstGeom prst="rect">
            <a:avLst/>
          </a:prstGeom>
          <a:noFill/>
        </p:spPr>
        <p:txBody>
          <a:bodyPr wrap="square" anchor="t" lIns="0" rIns="0" tIns="0" bIns="0">
            <a:spAutoFit/>
          </a:bodyPr>
          <a:lstStyle/>
          <a:p>
            <a:pPr algn="l">
              <a:spcAft>
                <a:spcPts val="900"/>
              </a:spcAft>
            </a:pPr>
            <a:r>
              <a:rPr sz="1300" b="1" i="0" spc="80">
                <a:solidFill>
                  <a:srgbClr val="C0642A"/>
                </a:solidFill>
                <a:latin typeface="Calibri"/>
              </a:rPr>
              <a:t>THE PART NOBODY ELSE BUILT</a:t>
            </a:r>
          </a:p>
          <a:p>
            <a:pPr algn="l">
              <a:lnSpc>
                <a:spcPct val="108000"/>
              </a:lnSpc>
              <a:spcAft>
                <a:spcPts val="700"/>
              </a:spcAft>
            </a:pPr>
            <a:r>
              <a:rPr sz="1400" b="1" i="0">
                <a:solidFill>
                  <a:srgbClr val="FFFFFF"/>
                </a:solidFill>
                <a:latin typeface="Calibri"/>
              </a:rPr>
              <a:t>The draft argues the client's problem back to them, in their language.</a:t>
            </a:r>
          </a:p>
          <a:p>
            <a:pPr algn="l">
              <a:lnSpc>
                <a:spcPct val="108000"/>
              </a:lnSpc>
              <a:spcAft>
                <a:spcPts val="700"/>
              </a:spcAft>
            </a:pPr>
            <a:r>
              <a:rPr sz="1300" b="0" i="0">
                <a:solidFill>
                  <a:srgbClr val="D9E1EA"/>
                </a:solidFill>
                <a:latin typeface="Calibri"/>
              </a:rPr>
              <a:t>Every claim carries the credential, case study or proposal it came from.</a:t>
            </a:r>
          </a:p>
          <a:p>
            <a:pPr algn="l">
              <a:lnSpc>
                <a:spcPct val="108000"/>
              </a:lnSpc>
              <a:spcAft>
                <a:spcPts val="700"/>
              </a:spcAft>
            </a:pPr>
            <a:r>
              <a:rPr sz="1300" b="0" i="0">
                <a:solidFill>
                  <a:srgbClr val="D9E1EA"/>
                </a:solidFill>
                <a:latin typeface="Calibri"/>
              </a:rPr>
              <a:t>“Why Aberdeen” comes from our Culture Charter, in a human voice — not boilerplate.</a:t>
            </a:r>
          </a:p>
          <a:p>
            <a:pPr algn="l">
              <a:lnSpc>
                <a:spcPct val="108000"/>
              </a:lnSpc>
            </a:pPr>
            <a:r>
              <a:rPr sz="1300" b="0" i="0">
                <a:solidFill>
                  <a:srgbClr val="D9E1EA"/>
                </a:solidFill>
                <a:latin typeface="Calibri"/>
              </a:rPr>
              <a:t>It lands as a two-page Executive Summary and a one-page Decision Guide, full detail behind them — not 75 slides.</a:t>
            </a:r>
          </a:p>
        </p:txBody>
      </p:sp>
      <p:sp>
        <p:nvSpPr>
          <p:cNvPr id="21" name="TextBox 20"/>
          <p:cNvSpPr txBox="1"/>
          <p:nvPr/>
        </p:nvSpPr>
        <p:spPr>
          <a:xfrm>
            <a:off x="566928" y="6144768"/>
            <a:ext cx="9692640" cy="274320"/>
          </a:xfrm>
          <a:prstGeom prst="rect">
            <a:avLst/>
          </a:prstGeom>
          <a:noFill/>
        </p:spPr>
        <p:txBody>
          <a:bodyPr wrap="square" anchor="t" lIns="0" rIns="0" tIns="0" bIns="0">
            <a:spAutoFit/>
          </a:bodyPr>
          <a:lstStyle/>
          <a:p>
            <a:pPr algn="l"/>
            <a:r>
              <a:rPr sz="1250" b="0" i="1">
                <a:solidFill>
                  <a:srgbClr val="4A5A6E"/>
                </a:solidFill>
                <a:latin typeface="Calibri"/>
              </a:rPr>
              <a:t>The question behind every output: how do we make each interaction with Aberdeen unexpectedly enjoyable?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75488"/>
            <a:ext cx="11055096" cy="237744"/>
          </a:xfrm>
          <a:prstGeom prst="rect">
            <a:avLst/>
          </a:prstGeom>
          <a:noFill/>
        </p:spPr>
        <p:txBody>
          <a:bodyPr wrap="square" anchor="t" lIns="0" rIns="0" tIns="0" bIns="0">
            <a:spAutoFit/>
          </a:bodyPr>
          <a:lstStyle/>
          <a:p>
            <a:pPr algn="l"/>
            <a:r>
              <a:rPr sz="1150" b="1" i="0" spc="120">
                <a:solidFill>
                  <a:srgbClr val="C0642A"/>
                </a:solidFill>
                <a:latin typeface="Calibri"/>
              </a:rPr>
              <a:t>DEMO  ·  WAYFARER MARKET CO.</a:t>
            </a:r>
          </a:p>
        </p:txBody>
      </p:sp>
      <p:sp>
        <p:nvSpPr>
          <p:cNvPr id="4" name="TextBox 3"/>
          <p:cNvSpPr txBox="1"/>
          <p:nvPr/>
        </p:nvSpPr>
        <p:spPr>
          <a:xfrm>
            <a:off x="566928" y="786384"/>
            <a:ext cx="11055096" cy="566928"/>
          </a:xfrm>
          <a:prstGeom prst="rect">
            <a:avLst/>
          </a:prstGeom>
          <a:noFill/>
        </p:spPr>
        <p:txBody>
          <a:bodyPr wrap="square" anchor="t" lIns="0" rIns="0" tIns="0" bIns="0">
            <a:spAutoFit/>
          </a:bodyPr>
          <a:lstStyle/>
          <a:p>
            <a:pPr algn="l">
              <a:lnSpc>
                <a:spcPct val="95000"/>
              </a:lnSpc>
            </a:pPr>
            <a:r>
              <a:rPr sz="3000" b="1" i="0">
                <a:solidFill>
                  <a:srgbClr val="0F2540"/>
                </a:solidFill>
                <a:latin typeface="Calibri"/>
              </a:rPr>
              <a:t>Upload once. It argues Wayfarer's problem back to them.</a:t>
            </a:r>
          </a:p>
        </p:txBody>
      </p:sp>
      <p:sp>
        <p:nvSpPr>
          <p:cNvPr id="5" name="Rectangle 4"/>
          <p:cNvSpPr/>
          <p:nvPr/>
        </p:nvSpPr>
        <p:spPr>
          <a:xfrm>
            <a:off x="566928" y="1499616"/>
            <a:ext cx="1371600" cy="41148"/>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424160" y="6382512"/>
            <a:ext cx="1197864" cy="237744"/>
          </a:xfrm>
          <a:prstGeom prst="rect">
            <a:avLst/>
          </a:prstGeom>
          <a:noFill/>
        </p:spPr>
        <p:txBody>
          <a:bodyPr wrap="square" anchor="t" lIns="0" rIns="0" tIns="0" bIns="0">
            <a:spAutoFit/>
          </a:bodyPr>
          <a:lstStyle/>
          <a:p>
            <a:pPr algn="r"/>
            <a:r>
              <a:rPr sz="1000" b="0" i="0">
                <a:solidFill>
                  <a:srgbClr val="4A5A6E"/>
                </a:solidFill>
                <a:latin typeface="Calibri"/>
              </a:rPr>
              <a:t>3 / 4</a:t>
            </a:r>
          </a:p>
        </p:txBody>
      </p:sp>
      <p:sp>
        <p:nvSpPr>
          <p:cNvPr id="7" name="Rectangle 6"/>
          <p:cNvSpPr/>
          <p:nvPr/>
        </p:nvSpPr>
        <p:spPr>
          <a:xfrm>
            <a:off x="566928" y="1773936"/>
            <a:ext cx="6446520" cy="676656"/>
          </a:xfrm>
          <a:prstGeom prst="rect">
            <a:avLst/>
          </a:prstGeom>
          <a:solidFill>
            <a:srgbClr val="F7EEE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911096"/>
            <a:ext cx="6044184" cy="475488"/>
          </a:xfrm>
          <a:prstGeom prst="rect">
            <a:avLst/>
          </a:prstGeom>
          <a:noFill/>
        </p:spPr>
        <p:txBody>
          <a:bodyPr wrap="square" anchor="t" lIns="0" rIns="0" tIns="0" bIns="0">
            <a:spAutoFit/>
          </a:bodyPr>
          <a:lstStyle/>
          <a:p>
            <a:pPr algn="l">
              <a:lnSpc>
                <a:spcPct val="105000"/>
              </a:lnSpc>
            </a:pPr>
            <a:r>
              <a:rPr sz="1300" b="1" i="0">
                <a:solidFill>
                  <a:srgbClr val="0F2540"/>
                </a:solidFill>
                <a:latin typeface="Calibri"/>
              </a:rPr>
              <a:t>Input: specialty grocer, ~500 stores, ~50,000 crew. Grow revenue without eroding crew culture.</a:t>
            </a:r>
          </a:p>
        </p:txBody>
      </p:sp>
      <p:sp>
        <p:nvSpPr>
          <p:cNvPr id="9" name="Rectangle 8"/>
          <p:cNvSpPr/>
          <p:nvPr/>
        </p:nvSpPr>
        <p:spPr>
          <a:xfrm>
            <a:off x="566928" y="2683764"/>
            <a:ext cx="274320" cy="27432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6928" y="2720340"/>
            <a:ext cx="274320" cy="219456"/>
          </a:xfrm>
          <a:prstGeom prst="rect">
            <a:avLst/>
          </a:prstGeom>
          <a:noFill/>
        </p:spPr>
        <p:txBody>
          <a:bodyPr wrap="square" anchor="t" lIns="0" rIns="0" tIns="0" bIns="0">
            <a:spAutoFit/>
          </a:bodyPr>
          <a:lstStyle/>
          <a:p>
            <a:pPr algn="ctr"/>
            <a:r>
              <a:rPr sz="1200" b="1" i="0">
                <a:solidFill>
                  <a:srgbClr val="FFFFFF"/>
                </a:solidFill>
                <a:latin typeface="Calibri"/>
              </a:rPr>
              <a:t>1</a:t>
            </a:r>
          </a:p>
        </p:txBody>
      </p:sp>
      <p:sp>
        <p:nvSpPr>
          <p:cNvPr id="11" name="TextBox 10"/>
          <p:cNvSpPr txBox="1"/>
          <p:nvPr/>
        </p:nvSpPr>
        <p:spPr>
          <a:xfrm>
            <a:off x="987552" y="2679192"/>
            <a:ext cx="6025896" cy="566928"/>
          </a:xfrm>
          <a:prstGeom prst="rect">
            <a:avLst/>
          </a:prstGeom>
          <a:noFill/>
        </p:spPr>
        <p:txBody>
          <a:bodyPr wrap="square" anchor="t" lIns="0" rIns="0" tIns="0" bIns="0">
            <a:spAutoFit/>
          </a:bodyPr>
          <a:lstStyle/>
          <a:p>
            <a:pPr algn="l">
              <a:lnSpc>
                <a:spcPct val="108000"/>
              </a:lnSpc>
            </a:pPr>
            <a:r>
              <a:rPr sz="1400" b="0" i="0">
                <a:solidFill>
                  <a:srgbClr val="0F2540"/>
                </a:solidFill>
                <a:latin typeface="Calibri"/>
              </a:rPr>
              <a:t>Copilot reads the RFP: scope, deliverables D1–D5, requirements 5.1–5.7, page limit.</a:t>
            </a:r>
          </a:p>
        </p:txBody>
      </p:sp>
      <p:sp>
        <p:nvSpPr>
          <p:cNvPr id="12" name="Rectangle 11"/>
          <p:cNvSpPr/>
          <p:nvPr/>
        </p:nvSpPr>
        <p:spPr>
          <a:xfrm>
            <a:off x="566928" y="3323844"/>
            <a:ext cx="274320" cy="27432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66928" y="3360420"/>
            <a:ext cx="274320" cy="219456"/>
          </a:xfrm>
          <a:prstGeom prst="rect">
            <a:avLst/>
          </a:prstGeom>
          <a:noFill/>
        </p:spPr>
        <p:txBody>
          <a:bodyPr wrap="square" anchor="t" lIns="0" rIns="0" tIns="0" bIns="0">
            <a:spAutoFit/>
          </a:bodyPr>
          <a:lstStyle/>
          <a:p>
            <a:pPr algn="ctr"/>
            <a:r>
              <a:rPr sz="1200" b="1" i="0">
                <a:solidFill>
                  <a:srgbClr val="FFFFFF"/>
                </a:solidFill>
                <a:latin typeface="Calibri"/>
              </a:rPr>
              <a:t>2</a:t>
            </a:r>
          </a:p>
        </p:txBody>
      </p:sp>
      <p:sp>
        <p:nvSpPr>
          <p:cNvPr id="14" name="TextBox 13"/>
          <p:cNvSpPr txBox="1"/>
          <p:nvPr/>
        </p:nvSpPr>
        <p:spPr>
          <a:xfrm>
            <a:off x="987552" y="3319272"/>
            <a:ext cx="6025896" cy="566928"/>
          </a:xfrm>
          <a:prstGeom prst="rect">
            <a:avLst/>
          </a:prstGeom>
          <a:noFill/>
        </p:spPr>
        <p:txBody>
          <a:bodyPr wrap="square" anchor="t" lIns="0" rIns="0" tIns="0" bIns="0">
            <a:spAutoFit/>
          </a:bodyPr>
          <a:lstStyle/>
          <a:p>
            <a:pPr algn="l">
              <a:lnSpc>
                <a:spcPct val="108000"/>
              </a:lnSpc>
            </a:pPr>
            <a:r>
              <a:rPr sz="1400" b="0" i="0">
                <a:solidFill>
                  <a:srgbClr val="0F2540"/>
                </a:solidFill>
                <a:latin typeface="Calibri"/>
              </a:rPr>
              <a:t>It pins the non-negotiable up front: nothing that erodes crew culture.</a:t>
            </a:r>
          </a:p>
        </p:txBody>
      </p:sp>
      <p:sp>
        <p:nvSpPr>
          <p:cNvPr id="15" name="Rectangle 14"/>
          <p:cNvSpPr/>
          <p:nvPr/>
        </p:nvSpPr>
        <p:spPr>
          <a:xfrm>
            <a:off x="566928" y="3963924"/>
            <a:ext cx="274320" cy="27432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66928" y="4000500"/>
            <a:ext cx="274320" cy="219456"/>
          </a:xfrm>
          <a:prstGeom prst="rect">
            <a:avLst/>
          </a:prstGeom>
          <a:noFill/>
        </p:spPr>
        <p:txBody>
          <a:bodyPr wrap="square" anchor="t" lIns="0" rIns="0" tIns="0" bIns="0">
            <a:spAutoFit/>
          </a:bodyPr>
          <a:lstStyle/>
          <a:p>
            <a:pPr algn="ctr"/>
            <a:r>
              <a:rPr sz="1200" b="1" i="0">
                <a:solidFill>
                  <a:srgbClr val="FFFFFF"/>
                </a:solidFill>
                <a:latin typeface="Calibri"/>
              </a:rPr>
              <a:t>3</a:t>
            </a:r>
          </a:p>
        </p:txBody>
      </p:sp>
      <p:sp>
        <p:nvSpPr>
          <p:cNvPr id="17" name="TextBox 16"/>
          <p:cNvSpPr txBox="1"/>
          <p:nvPr/>
        </p:nvSpPr>
        <p:spPr>
          <a:xfrm>
            <a:off x="987552" y="3959352"/>
            <a:ext cx="6025896" cy="566928"/>
          </a:xfrm>
          <a:prstGeom prst="rect">
            <a:avLst/>
          </a:prstGeom>
          <a:noFill/>
        </p:spPr>
        <p:txBody>
          <a:bodyPr wrap="square" anchor="t" lIns="0" rIns="0" tIns="0" bIns="0">
            <a:spAutoFit/>
          </a:bodyPr>
          <a:lstStyle/>
          <a:p>
            <a:pPr algn="l">
              <a:lnSpc>
                <a:spcPct val="108000"/>
              </a:lnSpc>
            </a:pPr>
            <a:r>
              <a:rPr sz="1400" b="0" i="0">
                <a:solidFill>
                  <a:srgbClr val="0F2540"/>
                </a:solidFill>
                <a:latin typeface="Calibri"/>
              </a:rPr>
              <a:t>Win themes come back in Wayfarer's language, not ours — crew first, growth second.</a:t>
            </a:r>
          </a:p>
        </p:txBody>
      </p:sp>
      <p:sp>
        <p:nvSpPr>
          <p:cNvPr id="18" name="Rectangle 17"/>
          <p:cNvSpPr/>
          <p:nvPr/>
        </p:nvSpPr>
        <p:spPr>
          <a:xfrm>
            <a:off x="566928" y="4604004"/>
            <a:ext cx="274320" cy="27432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6928" y="4640580"/>
            <a:ext cx="274320" cy="219456"/>
          </a:xfrm>
          <a:prstGeom prst="rect">
            <a:avLst/>
          </a:prstGeom>
          <a:noFill/>
        </p:spPr>
        <p:txBody>
          <a:bodyPr wrap="square" anchor="t" lIns="0" rIns="0" tIns="0" bIns="0">
            <a:spAutoFit/>
          </a:bodyPr>
          <a:lstStyle/>
          <a:p>
            <a:pPr algn="ctr"/>
            <a:r>
              <a:rPr sz="1200" b="1" i="0">
                <a:solidFill>
                  <a:srgbClr val="FFFFFF"/>
                </a:solidFill>
                <a:latin typeface="Calibri"/>
              </a:rPr>
              <a:t>4</a:t>
            </a:r>
          </a:p>
        </p:txBody>
      </p:sp>
      <p:sp>
        <p:nvSpPr>
          <p:cNvPr id="20" name="TextBox 19"/>
          <p:cNvSpPr txBox="1"/>
          <p:nvPr/>
        </p:nvSpPr>
        <p:spPr>
          <a:xfrm>
            <a:off x="987552" y="4599432"/>
            <a:ext cx="6025896" cy="566928"/>
          </a:xfrm>
          <a:prstGeom prst="rect">
            <a:avLst/>
          </a:prstGeom>
          <a:noFill/>
        </p:spPr>
        <p:txBody>
          <a:bodyPr wrap="square" anchor="t" lIns="0" rIns="0" tIns="0" bIns="0">
            <a:spAutoFit/>
          </a:bodyPr>
          <a:lstStyle/>
          <a:p>
            <a:pPr algn="l">
              <a:lnSpc>
                <a:spcPct val="108000"/>
              </a:lnSpc>
            </a:pPr>
            <a:r>
              <a:rPr sz="1400" b="0" i="0">
                <a:solidFill>
                  <a:srgbClr val="0F2540"/>
                </a:solidFill>
                <a:latin typeface="Calibri"/>
              </a:rPr>
              <a:t>Three case studies surface with a relevance match and a line on why each one fits.</a:t>
            </a:r>
          </a:p>
        </p:txBody>
      </p:sp>
      <p:sp>
        <p:nvSpPr>
          <p:cNvPr id="21" name="Rectangle 20"/>
          <p:cNvSpPr/>
          <p:nvPr/>
        </p:nvSpPr>
        <p:spPr>
          <a:xfrm>
            <a:off x="566928" y="5244084"/>
            <a:ext cx="274320" cy="27432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6928" y="5280660"/>
            <a:ext cx="274320" cy="219456"/>
          </a:xfrm>
          <a:prstGeom prst="rect">
            <a:avLst/>
          </a:prstGeom>
          <a:noFill/>
        </p:spPr>
        <p:txBody>
          <a:bodyPr wrap="square" anchor="t" lIns="0" rIns="0" tIns="0" bIns="0">
            <a:spAutoFit/>
          </a:bodyPr>
          <a:lstStyle/>
          <a:p>
            <a:pPr algn="ctr"/>
            <a:r>
              <a:rPr sz="1200" b="1" i="0">
                <a:solidFill>
                  <a:srgbClr val="FFFFFF"/>
                </a:solidFill>
                <a:latin typeface="Calibri"/>
              </a:rPr>
              <a:t>5</a:t>
            </a:r>
          </a:p>
        </p:txBody>
      </p:sp>
      <p:sp>
        <p:nvSpPr>
          <p:cNvPr id="23" name="TextBox 22"/>
          <p:cNvSpPr txBox="1"/>
          <p:nvPr/>
        </p:nvSpPr>
        <p:spPr>
          <a:xfrm>
            <a:off x="987552" y="5239512"/>
            <a:ext cx="6025896" cy="566928"/>
          </a:xfrm>
          <a:prstGeom prst="rect">
            <a:avLst/>
          </a:prstGeom>
          <a:noFill/>
        </p:spPr>
        <p:txBody>
          <a:bodyPr wrap="square" anchor="t" lIns="0" rIns="0" tIns="0" bIns="0">
            <a:spAutoFit/>
          </a:bodyPr>
          <a:lstStyle/>
          <a:p>
            <a:pPr algn="l">
              <a:lnSpc>
                <a:spcPct val="108000"/>
              </a:lnSpc>
            </a:pPr>
            <a:r>
              <a:rPr sz="1400" b="0" i="0">
                <a:solidFill>
                  <a:srgbClr val="0F2540"/>
                </a:solidFill>
                <a:latin typeface="Calibri"/>
              </a:rPr>
              <a:t>The Proposal Starter assembles against Exhibit B, the client's own required response items, with the opening sections already written.</a:t>
            </a:r>
          </a:p>
        </p:txBody>
      </p:sp>
      <p:sp>
        <p:nvSpPr>
          <p:cNvPr id="24" name="TextBox 23"/>
          <p:cNvSpPr txBox="1"/>
          <p:nvPr/>
        </p:nvSpPr>
        <p:spPr>
          <a:xfrm>
            <a:off x="566928" y="5961888"/>
            <a:ext cx="6446520" cy="475488"/>
          </a:xfrm>
          <a:prstGeom prst="rect">
            <a:avLst/>
          </a:prstGeom>
          <a:noFill/>
        </p:spPr>
        <p:txBody>
          <a:bodyPr wrap="square" anchor="t" lIns="0" rIns="0" tIns="0" bIns="0">
            <a:spAutoFit/>
          </a:bodyPr>
          <a:lstStyle/>
          <a:p>
            <a:pPr algn="l">
              <a:lnSpc>
                <a:spcPct val="110000"/>
              </a:lnSpc>
            </a:pPr>
            <a:r>
              <a:rPr sz="1300" b="0" i="1">
                <a:solidFill>
                  <a:srgbClr val="4A5A6E"/>
                </a:solidFill>
                <a:latin typeface="Calibri"/>
              </a:rPr>
              <a:t>What the judges see: a first draft that understood the business before it started describing us.</a:t>
            </a:r>
          </a:p>
        </p:txBody>
      </p:sp>
      <p:sp>
        <p:nvSpPr>
          <p:cNvPr id="25" name="Rectangle 24"/>
          <p:cNvSpPr/>
          <p:nvPr/>
        </p:nvSpPr>
        <p:spPr>
          <a:xfrm>
            <a:off x="7443216" y="1773936"/>
            <a:ext cx="4178808" cy="4059936"/>
          </a:xfrm>
          <a:prstGeom prst="rect">
            <a:avLst/>
          </a:prstGeom>
          <a:solidFill>
            <a:srgbClr val="F1F4F7"/>
          </a:solidFill>
          <a:ln w="15875">
            <a:solidFill>
              <a:srgbClr val="4A5A6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717536" y="3474720"/>
            <a:ext cx="3630168" cy="914400"/>
          </a:xfrm>
          <a:prstGeom prst="rect">
            <a:avLst/>
          </a:prstGeom>
          <a:noFill/>
        </p:spPr>
        <p:txBody>
          <a:bodyPr wrap="square" anchor="t" lIns="0" rIns="0" tIns="0" bIns="0">
            <a:spAutoFit/>
          </a:bodyPr>
          <a:lstStyle/>
          <a:p>
            <a:pPr algn="ctr">
              <a:spcAft>
                <a:spcPts val="700"/>
              </a:spcAft>
            </a:pPr>
            <a:r>
              <a:rPr sz="1400" b="1" i="0">
                <a:solidFill>
                  <a:srgbClr val="4A5A6E"/>
                </a:solidFill>
                <a:latin typeface="Calibri"/>
              </a:rPr>
              <a:t>[ Screenshot: paste UI capture here ]</a:t>
            </a:r>
          </a:p>
          <a:p>
            <a:pPr algn="ctr"/>
            <a:r>
              <a:rPr sz="1200" b="0" i="1">
                <a:solidFill>
                  <a:srgbClr val="4A5A6E"/>
                </a:solidFill>
                <a:latin typeface="Calibri"/>
              </a:rPr>
              <a:t>Front end built; backend in progress at time of writing.</a:t>
            </a:r>
          </a:p>
        </p:txBody>
      </p:sp>
      <p:sp>
        <p:nvSpPr>
          <p:cNvPr id="27" name="TextBox 26"/>
          <p:cNvSpPr txBox="1"/>
          <p:nvPr/>
        </p:nvSpPr>
        <p:spPr>
          <a:xfrm>
            <a:off x="7443216" y="5980176"/>
            <a:ext cx="4178808" cy="274320"/>
          </a:xfrm>
          <a:prstGeom prst="rect">
            <a:avLst/>
          </a:prstGeom>
          <a:noFill/>
        </p:spPr>
        <p:txBody>
          <a:bodyPr wrap="square" anchor="t" lIns="0" rIns="0" tIns="0" bIns="0">
            <a:spAutoFit/>
          </a:bodyPr>
          <a:lstStyle/>
          <a:p>
            <a:pPr algn="ctr"/>
            <a:r>
              <a:rPr sz="1200" b="0" i="0">
                <a:solidFill>
                  <a:srgbClr val="4A5A6E"/>
                </a:solidFill>
                <a:latin typeface="Calibri"/>
              </a:rPr>
              <a:t>Live walkthrough delivered in the demo slot.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75488"/>
            <a:ext cx="11055096" cy="237744"/>
          </a:xfrm>
          <a:prstGeom prst="rect">
            <a:avLst/>
          </a:prstGeom>
          <a:noFill/>
        </p:spPr>
        <p:txBody>
          <a:bodyPr wrap="square" anchor="t" lIns="0" rIns="0" tIns="0" bIns="0">
            <a:spAutoFit/>
          </a:bodyPr>
          <a:lstStyle/>
          <a:p>
            <a:pPr algn="l"/>
            <a:r>
              <a:rPr sz="1150" b="1" i="0" spc="120">
                <a:solidFill>
                  <a:srgbClr val="C0642A"/>
                </a:solidFill>
                <a:latin typeface="Calibri"/>
              </a:rPr>
              <a:t>IMPACT  ·  PATH TO MARKET</a:t>
            </a:r>
          </a:p>
        </p:txBody>
      </p:sp>
      <p:sp>
        <p:nvSpPr>
          <p:cNvPr id="4" name="TextBox 3"/>
          <p:cNvSpPr txBox="1"/>
          <p:nvPr/>
        </p:nvSpPr>
        <p:spPr>
          <a:xfrm>
            <a:off x="566928" y="786384"/>
            <a:ext cx="11055096" cy="566928"/>
          </a:xfrm>
          <a:prstGeom prst="rect">
            <a:avLst/>
          </a:prstGeom>
          <a:noFill/>
        </p:spPr>
        <p:txBody>
          <a:bodyPr wrap="square" anchor="t" lIns="0" rIns="0" tIns="0" bIns="0">
            <a:spAutoFit/>
          </a:bodyPr>
          <a:lstStyle/>
          <a:p>
            <a:pPr algn="l">
              <a:lnSpc>
                <a:spcPct val="95000"/>
              </a:lnSpc>
            </a:pPr>
            <a:r>
              <a:rPr sz="3000" b="1" i="0">
                <a:solidFill>
                  <a:srgbClr val="0F2540"/>
                </a:solidFill>
                <a:latin typeface="Calibri"/>
              </a:rPr>
              <a:t>Faster is nice. Getting your evening back is the point.</a:t>
            </a:r>
          </a:p>
        </p:txBody>
      </p:sp>
      <p:sp>
        <p:nvSpPr>
          <p:cNvPr id="5" name="Rectangle 4"/>
          <p:cNvSpPr/>
          <p:nvPr/>
        </p:nvSpPr>
        <p:spPr>
          <a:xfrm>
            <a:off x="566928" y="1499616"/>
            <a:ext cx="1371600" cy="41148"/>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424160" y="6382512"/>
            <a:ext cx="1197864" cy="237744"/>
          </a:xfrm>
          <a:prstGeom prst="rect">
            <a:avLst/>
          </a:prstGeom>
          <a:noFill/>
        </p:spPr>
        <p:txBody>
          <a:bodyPr wrap="square" anchor="t" lIns="0" rIns="0" tIns="0" bIns="0">
            <a:spAutoFit/>
          </a:bodyPr>
          <a:lstStyle/>
          <a:p>
            <a:pPr algn="r"/>
            <a:r>
              <a:rPr sz="1000" b="0" i="0">
                <a:solidFill>
                  <a:srgbClr val="4A5A6E"/>
                </a:solidFill>
                <a:latin typeface="Calibri"/>
              </a:rPr>
              <a:t>4 / 4</a:t>
            </a:r>
          </a:p>
        </p:txBody>
      </p:sp>
      <p:sp>
        <p:nvSpPr>
          <p:cNvPr id="7" name="Rectangle 6"/>
          <p:cNvSpPr/>
          <p:nvPr/>
        </p:nvSpPr>
        <p:spPr>
          <a:xfrm>
            <a:off x="566928" y="1773936"/>
            <a:ext cx="2647188" cy="287121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1975104"/>
            <a:ext cx="2171700" cy="246888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BUSINESS VALUE</a:t>
            </a:r>
          </a:p>
          <a:p>
            <a:pPr algn="l">
              <a:lnSpc>
                <a:spcPct val="105000"/>
              </a:lnSpc>
              <a:spcAft>
                <a:spcPts val="700"/>
              </a:spcAft>
            </a:pPr>
            <a:r>
              <a:rPr sz="1300" b="0" i="0">
                <a:solidFill>
                  <a:srgbClr val="4A5A6E"/>
                </a:solidFill>
                <a:latin typeface="Calibri"/>
              </a:rPr>
              <a:t>More pursuits answered, at steadier quality.</a:t>
            </a:r>
          </a:p>
          <a:p>
            <a:pPr algn="l">
              <a:lnSpc>
                <a:spcPct val="105000"/>
              </a:lnSpc>
              <a:spcAft>
                <a:spcPts val="700"/>
              </a:spcAft>
            </a:pPr>
            <a:r>
              <a:rPr sz="1300" b="0" i="0">
                <a:solidFill>
                  <a:srgbClr val="4A5A6E"/>
                </a:solidFill>
                <a:latin typeface="Calibri"/>
              </a:rPr>
              <a:t>The first 48 hours go to the client's problem, not to page setup.</a:t>
            </a:r>
          </a:p>
          <a:p>
            <a:pPr algn="l">
              <a:lnSpc>
                <a:spcPct val="105000"/>
              </a:lnSpc>
              <a:spcAft>
                <a:spcPts val="0"/>
              </a:spcAft>
            </a:pPr>
            <a:r>
              <a:rPr sz="1300" b="0" i="0">
                <a:solidFill>
                  <a:srgbClr val="4A5A6E"/>
                </a:solidFill>
                <a:latin typeface="Calibri"/>
              </a:rPr>
              <a:t>Reusable: the same ingest-and-draft lifts into pitch decks and QBRs.</a:t>
            </a:r>
          </a:p>
        </p:txBody>
      </p:sp>
      <p:sp>
        <p:nvSpPr>
          <p:cNvPr id="9" name="Rectangle 8"/>
          <p:cNvSpPr/>
          <p:nvPr/>
        </p:nvSpPr>
        <p:spPr>
          <a:xfrm>
            <a:off x="3369564" y="1773936"/>
            <a:ext cx="2647188" cy="287121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607308" y="1975104"/>
            <a:ext cx="2171700" cy="246888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PILOT PLAN</a:t>
            </a:r>
          </a:p>
          <a:p>
            <a:pPr algn="l">
              <a:lnSpc>
                <a:spcPct val="105000"/>
              </a:lnSpc>
              <a:spcAft>
                <a:spcPts val="700"/>
              </a:spcAft>
            </a:pPr>
            <a:r>
              <a:rPr sz="1300" b="0" i="0">
                <a:solidFill>
                  <a:srgbClr val="4A5A6E"/>
                </a:solidFill>
                <a:latin typeface="Calibri"/>
              </a:rPr>
              <a:t>1  Run in parallel on the next live pursuit, beside the human draft.</a:t>
            </a:r>
          </a:p>
          <a:p>
            <a:pPr algn="l">
              <a:lnSpc>
                <a:spcPct val="105000"/>
              </a:lnSpc>
              <a:spcAft>
                <a:spcPts val="700"/>
              </a:spcAft>
            </a:pPr>
            <a:r>
              <a:rPr sz="1300" b="0" i="0">
                <a:solidFill>
                  <a:srgbClr val="4A5A6E"/>
                </a:solidFill>
                <a:latin typeface="Calibri"/>
              </a:rPr>
              <a:t>2  Stand up the credential and case-study library — the main dependency, empty today.</a:t>
            </a:r>
          </a:p>
          <a:p>
            <a:pPr algn="l">
              <a:lnSpc>
                <a:spcPct val="105000"/>
              </a:lnSpc>
              <a:spcAft>
                <a:spcPts val="0"/>
              </a:spcAft>
            </a:pPr>
            <a:r>
              <a:rPr sz="1300" b="0" i="0">
                <a:solidFill>
                  <a:srgbClr val="4A5A6E"/>
                </a:solidFill>
                <a:latin typeface="Calibri"/>
              </a:rPr>
              <a:t>3  Partner review before send. A rule, not a setting.</a:t>
            </a:r>
          </a:p>
        </p:txBody>
      </p:sp>
      <p:sp>
        <p:nvSpPr>
          <p:cNvPr id="11" name="Rectangle 10"/>
          <p:cNvSpPr/>
          <p:nvPr/>
        </p:nvSpPr>
        <p:spPr>
          <a:xfrm>
            <a:off x="6172200" y="1773936"/>
            <a:ext cx="2647188" cy="287121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9944" y="1975104"/>
            <a:ext cx="2171700" cy="246888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WHAT WE WOULD MEASURE</a:t>
            </a:r>
          </a:p>
          <a:p>
            <a:pPr algn="l">
              <a:lnSpc>
                <a:spcPct val="105000"/>
              </a:lnSpc>
              <a:spcAft>
                <a:spcPts val="700"/>
              </a:spcAft>
            </a:pPr>
            <a:r>
              <a:rPr sz="1300" b="0" i="0">
                <a:solidFill>
                  <a:srgbClr val="4A5A6E"/>
                </a:solidFill>
                <a:latin typeface="Calibri"/>
              </a:rPr>
              <a:t>Draft-to-first-review time.</a:t>
            </a:r>
          </a:p>
          <a:p>
            <a:pPr algn="l">
              <a:lnSpc>
                <a:spcPct val="105000"/>
              </a:lnSpc>
              <a:spcAft>
                <a:spcPts val="700"/>
              </a:spcAft>
            </a:pPr>
            <a:r>
              <a:rPr sz="1300" b="0" i="0">
                <a:solidFill>
                  <a:srgbClr val="4A5A6E"/>
                </a:solidFill>
                <a:latin typeface="Calibri"/>
              </a:rPr>
              <a:t>Hours per pursuit, per person.</a:t>
            </a:r>
          </a:p>
          <a:p>
            <a:pPr algn="l">
              <a:lnSpc>
                <a:spcPct val="105000"/>
              </a:lnSpc>
              <a:spcAft>
                <a:spcPts val="700"/>
              </a:spcAft>
            </a:pPr>
            <a:r>
              <a:rPr sz="1300" b="0" i="0">
                <a:solidFill>
                  <a:srgbClr val="4A5A6E"/>
                </a:solidFill>
                <a:latin typeface="Calibri"/>
              </a:rPr>
              <a:t>How much of the draft survives review.</a:t>
            </a:r>
          </a:p>
          <a:p>
            <a:pPr algn="l">
              <a:lnSpc>
                <a:spcPct val="105000"/>
              </a:lnSpc>
              <a:spcAft>
                <a:spcPts val="700"/>
              </a:spcAft>
            </a:pPr>
            <a:r>
              <a:rPr sz="1300" b="0" i="0">
                <a:solidFill>
                  <a:srgbClr val="4A5A6E"/>
                </a:solidFill>
                <a:latin typeface="Calibri"/>
              </a:rPr>
              <a:t>Win rate where it was used.</a:t>
            </a:r>
          </a:p>
          <a:p>
            <a:pPr algn="l">
              <a:lnSpc>
                <a:spcPct val="105000"/>
              </a:lnSpc>
              <a:spcAft>
                <a:spcPts val="0"/>
              </a:spcAft>
            </a:pPr>
            <a:r>
              <a:rPr sz="1300" b="0" i="0">
                <a:solidFill>
                  <a:srgbClr val="4A5A6E"/>
                </a:solidFill>
                <a:latin typeface="Calibri"/>
              </a:rPr>
              <a:t>Baselines get set in the pilot.</a:t>
            </a:r>
          </a:p>
        </p:txBody>
      </p:sp>
      <p:sp>
        <p:nvSpPr>
          <p:cNvPr id="13" name="Rectangle 12"/>
          <p:cNvSpPr/>
          <p:nvPr/>
        </p:nvSpPr>
        <p:spPr>
          <a:xfrm>
            <a:off x="8974836" y="1773936"/>
            <a:ext cx="2647188" cy="2871216"/>
          </a:xfrm>
          <a:prstGeom prst="rect">
            <a:avLst/>
          </a:prstGeom>
          <a:solidFill>
            <a:srgbClr val="F1F4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212580" y="1975104"/>
            <a:ext cx="2171700" cy="2468880"/>
          </a:xfrm>
          <a:prstGeom prst="rect">
            <a:avLst/>
          </a:prstGeom>
          <a:noFill/>
        </p:spPr>
        <p:txBody>
          <a:bodyPr wrap="square" anchor="t" lIns="0" rIns="0" tIns="0" bIns="0">
            <a:spAutoFit/>
          </a:bodyPr>
          <a:lstStyle/>
          <a:p>
            <a:pPr algn="l">
              <a:spcAft>
                <a:spcPts val="700"/>
              </a:spcAft>
            </a:pPr>
            <a:r>
              <a:rPr sz="1300" b="1" i="0" spc="80">
                <a:solidFill>
                  <a:srgbClr val="0F2540"/>
                </a:solidFill>
                <a:latin typeface="Calibri"/>
              </a:rPr>
              <a:t>RISKS, HONESTLY</a:t>
            </a:r>
          </a:p>
          <a:p>
            <a:pPr algn="l">
              <a:lnSpc>
                <a:spcPct val="105000"/>
              </a:lnSpc>
              <a:spcAft>
                <a:spcPts val="700"/>
              </a:spcAft>
            </a:pPr>
            <a:r>
              <a:rPr sz="1300" b="0" i="0">
                <a:solidFill>
                  <a:srgbClr val="4A5A6E"/>
                </a:solidFill>
                <a:latin typeface="Calibri"/>
              </a:rPr>
              <a:t>Invented credentials or client facts.</a:t>
            </a:r>
          </a:p>
          <a:p>
            <a:pPr algn="l">
              <a:lnSpc>
                <a:spcPct val="105000"/>
              </a:lnSpc>
              <a:spcAft>
                <a:spcPts val="700"/>
              </a:spcAft>
            </a:pPr>
            <a:r>
              <a:rPr sz="1300" b="0" i="0">
                <a:solidFill>
                  <a:srgbClr val="4A5A6E"/>
                </a:solidFill>
                <a:latin typeface="Calibri"/>
              </a:rPr>
              <a:t>One uniform voice across every pursuit.</a:t>
            </a:r>
          </a:p>
          <a:p>
            <a:pPr algn="l">
              <a:lnSpc>
                <a:spcPct val="105000"/>
              </a:lnSpc>
              <a:spcAft>
                <a:spcPts val="700"/>
              </a:spcAft>
            </a:pPr>
            <a:r>
              <a:rPr sz="1300" b="0" i="0">
                <a:solidFill>
                  <a:srgbClr val="4A5A6E"/>
                </a:solidFill>
                <a:latin typeface="Calibri"/>
              </a:rPr>
              <a:t>Confidentiality of client RFP material.</a:t>
            </a:r>
          </a:p>
          <a:p>
            <a:pPr algn="l">
              <a:lnSpc>
                <a:spcPct val="105000"/>
              </a:lnSpc>
              <a:spcAft>
                <a:spcPts val="0"/>
              </a:spcAft>
            </a:pPr>
            <a:r>
              <a:rPr sz="1300" b="0" i="0">
                <a:solidFill>
                  <a:srgbClr val="4A5A6E"/>
                </a:solidFill>
                <a:latin typeface="Calibri"/>
              </a:rPr>
              <a:t>Mitigation: partner sign-off before send, and a cited source per claim.</a:t>
            </a:r>
          </a:p>
        </p:txBody>
      </p:sp>
      <p:sp>
        <p:nvSpPr>
          <p:cNvPr id="15" name="Rectangle 14"/>
          <p:cNvSpPr/>
          <p:nvPr/>
        </p:nvSpPr>
        <p:spPr>
          <a:xfrm>
            <a:off x="566928" y="4882896"/>
            <a:ext cx="11055096" cy="1426464"/>
          </a:xfrm>
          <a:prstGeom prst="rect">
            <a:avLst/>
          </a:prstGeom>
          <a:solidFill>
            <a:srgbClr val="0B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4882896"/>
            <a:ext cx="64008" cy="1426464"/>
          </a:xfrm>
          <a:prstGeom prst="rect">
            <a:avLst/>
          </a:prstGeom>
          <a:solidFill>
            <a:srgbClr val="C06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59536" y="5029200"/>
            <a:ext cx="10469880" cy="1133856"/>
          </a:xfrm>
          <a:prstGeom prst="rect">
            <a:avLst/>
          </a:prstGeom>
          <a:noFill/>
        </p:spPr>
        <p:txBody>
          <a:bodyPr wrap="square" anchor="t" lIns="0" rIns="0" tIns="0" bIns="0">
            <a:spAutoFit/>
          </a:bodyPr>
          <a:lstStyle/>
          <a:p>
            <a:pPr algn="l">
              <a:spcAft>
                <a:spcPts val="600"/>
              </a:spcAft>
            </a:pPr>
            <a:r>
              <a:rPr sz="1200" b="1" i="0" spc="100">
                <a:solidFill>
                  <a:srgbClr val="C0642A"/>
                </a:solidFill>
                <a:latin typeface="Calibri"/>
              </a:rPr>
              <a:t>WHAT WE ARE PLAYING FOR</a:t>
            </a:r>
          </a:p>
          <a:p>
            <a:pPr algn="l">
              <a:lnSpc>
                <a:spcPct val="108000"/>
              </a:lnSpc>
              <a:spcAft>
                <a:spcPts val="600"/>
              </a:spcAft>
            </a:pPr>
            <a:r>
              <a:rPr sz="1400" b="1" i="0">
                <a:solidFill>
                  <a:srgbClr val="FFFFFF"/>
                </a:solidFill>
                <a:latin typeface="Calibri"/>
              </a:rPr>
              <a:t>Want to get home in time for dinner tonight? Or read your kid a bedtime story and tuck them in? Use this tool.</a:t>
            </a:r>
          </a:p>
          <a:p>
            <a:pPr algn="l">
              <a:lnSpc>
                <a:spcPct val="108000"/>
              </a:lnSpc>
              <a:spcAft>
                <a:spcPts val="600"/>
              </a:spcAft>
            </a:pPr>
            <a:r>
              <a:rPr sz="1300" b="0" i="0">
                <a:solidFill>
                  <a:srgbClr val="D9E1EA"/>
                </a:solidFill>
                <a:latin typeface="Calibri"/>
              </a:rPr>
              <a:t>Our target: give back 80% of those 40+ hours — the number the pilot exists to prove, not a result we are claiming today.</a:t>
            </a:r>
          </a:p>
          <a:p>
            <a:pPr algn="l">
              <a:lnSpc>
                <a:spcPct val="108000"/>
              </a:lnSpc>
            </a:pPr>
            <a:r>
              <a:rPr sz="1300" b="0" i="1">
                <a:solidFill>
                  <a:srgbClr val="FFFFFF"/>
                </a:solidFill>
                <a:latin typeface="Calibri"/>
              </a:rPr>
              <a:t>Working with Aberdeen should feel easier after every interaction. That includes the week we spend winning the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