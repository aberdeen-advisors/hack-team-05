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02920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40">
                <a:solidFill>
                  <a:srgbClr val="C0642A"/>
                </a:solidFill>
                <a:latin typeface="Calibri"/>
              </a:rPr>
              <a:t>ABERDEEN HACKATHON  ·  TEAM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i="0">
                <a:solidFill>
                  <a:srgbClr val="0F2540"/>
                </a:solidFill>
                <a:latin typeface="Calibri"/>
              </a:rPr>
              <a:t>RFP Pursuit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85039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A5A6E"/>
                </a:solidFill>
                <a:latin typeface="Calibri"/>
              </a:rPr>
              <a:t>Turns a 30–80 page RFP into win themes, a pursuit strategy and a first-draft proposal — for the Aberdeen pursuit team.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3969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9572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0F2540"/>
                </a:solidFill>
                <a:latin typeface="Calibri"/>
              </a:rPr>
              <a:t>Seven days to respond. And every bidder sounds the same.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CLOCK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The first 48 hours go to structure and boilerplate, not to the client.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SAMENESS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Rivals send similar credentials and the same generic approach.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3054096"/>
            <a:ext cx="3502152" cy="129844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3255264"/>
            <a:ext cx="3026664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THE SCORING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Clients grade demonstrated understanding above capability lists.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90288"/>
            <a:ext cx="11055096" cy="1097280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590288"/>
            <a:ext cx="64008" cy="1097280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18304"/>
            <a:ext cx="10433304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550" b="0" i="1">
                <a:solidFill>
                  <a:srgbClr val="FFFFFF"/>
                </a:solidFill>
                <a:latin typeface="Georgia"/>
              </a:rPr>
              <a:t>“Wayfarer Market Co. puts 30% of its score on Understanding of Brand &amp; Crew Culture — and explicitly rejects the cut-costs, loyalty-program, more-ads playbook.”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D9E1EA"/>
                </a:solidFill>
                <a:latin typeface="Calibri"/>
              </a:rPr>
              <a:t>Read: the generic proposal does not just underwhelm. It loses on the criteria the client wrote 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70448"/>
            <a:ext cx="6949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F2540"/>
                </a:solidFill>
                <a:latin typeface="Calibri"/>
              </a:rPr>
              <a:t>Who it helps: the BD lead, partner and SME sharing hours 0–48 of a seven-day window.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11055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A5A6E"/>
                </a:solidFill>
                <a:latin typeface="Calibri"/>
              </a:rPr>
              <a:t>Carrie Stout  ·  CJ Johnson  ·  Jordan Cook  ·  Preetish Rath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THE SOLUTION  ·  RFP PURSUIT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Upload the RFP. Get a point of view, not a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2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01  INGEST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RFP, Aberdeen credentials, prior proposals, case studies.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9564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9564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2444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02  ANALYZE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Objectives, requirements, constraints, evaluation criteria.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03  DRAFT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Win themes first — then approach, staffing, timeline, copy.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4836" y="1773936"/>
            <a:ext cx="2647188" cy="1170432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74836" y="1773936"/>
            <a:ext cx="2647188" cy="50292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7715" y="1975104"/>
            <a:ext cx="22814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 spc="80">
                <a:solidFill>
                  <a:srgbClr val="C0642A"/>
                </a:solidFill>
                <a:latin typeface="Calibri"/>
              </a:rPr>
              <a:t>04  SCORE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F2540"/>
                </a:solidFill>
                <a:latin typeface="Calibri"/>
              </a:rPr>
              <a:t>Predicted rubric score and completeness check before send.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145536"/>
            <a:ext cx="5330952" cy="2889504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46704"/>
            <a:ext cx="4855464" cy="2487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WHAT IT HANDS YOU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Three win themes, tied to the client's stated priorities.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Solution approach, staffing model, timeline.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Aberdeen experience ranked by relevance — and why it is relevant.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First-draft copy for the opening sections, structured to the client's own required response items.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A5A6E"/>
                </a:solidFill>
                <a:latin typeface="Calibri"/>
              </a:rPr>
              <a:t>A Response Action per requirement: what it asks of us.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145536"/>
            <a:ext cx="5330952" cy="2889504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91072" y="3145536"/>
            <a:ext cx="5330952" cy="6400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383280"/>
            <a:ext cx="4855464" cy="2487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 spc="80">
                <a:solidFill>
                  <a:srgbClr val="C0642A"/>
                </a:solidFill>
                <a:latin typeface="Calibri"/>
              </a:rPr>
              <a:t>THE PART NOBODY ELSE BUILT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It grades itself against the client's own weighted rubric before you send it.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0" i="0">
                <a:solidFill>
                  <a:srgbClr val="D9E1EA"/>
                </a:solidFill>
                <a:latin typeface="Calibri"/>
              </a:rPr>
              <a:t>We have been the buy-side judge for years, so we already hold the scoring sheets.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0" i="0">
                <a:solidFill>
                  <a:srgbClr val="D9E1EA"/>
                </a:solidFill>
                <a:latin typeface="Calibri"/>
              </a:rPr>
              <a:t>Completeness check: an unanswered requirement is a non-responsive bid.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D9E1EA"/>
                </a:solidFill>
                <a:latin typeface="Calibri"/>
              </a:rPr>
              <a:t>“Why Aberdeen” comes from our Culture Charter — low-ego, high-ownership partnership — with every claim citing its source.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4A5A6E"/>
                </a:solidFill>
                <a:latin typeface="Calibri"/>
              </a:rPr>
              <a:t>Drafts are written to sound like people wrote them: warm, specific and about the client. Review before send, always.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DEMO  ·  WAYFARER MARKET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Watch a generic proposal lose on the client's criteria.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3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6446520" cy="676656"/>
          </a:xfrm>
          <a:prstGeom prst="rect">
            <a:avLst/>
          </a:prstGeom>
          <a:solidFill>
            <a:srgbClr val="F7EEE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60441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540"/>
                </a:solidFill>
                <a:latin typeface="Calibri"/>
              </a:rPr>
              <a:t>Input: specialty grocer, ~500 stores, ~50,000 crew. Grow revenue without eroding crew culture.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20340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56916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715768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Copilot parses the RFP: scope, deliverables D1–D5, requirements 5.1–5.7, weighted criteria, page limit.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96996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33572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392424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It pins the non-negotiable up front: nothing that erodes crew culture.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73652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1022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069080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Win themes come back in Wayfarer's language, not ours — crew first, growth second.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50308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78688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745736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The draft assembles against Exhibit B, the client's own ten required response items.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426964"/>
            <a:ext cx="274320" cy="27432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46354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422392"/>
            <a:ext cx="60258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0F2540"/>
                </a:solidFill>
                <a:latin typeface="Calibri"/>
              </a:rPr>
              <a:t>Predicted score names the gap: the generic playbook fails the 30% culture criterion.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63056"/>
            <a:ext cx="6446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4A5A6E"/>
                </a:solidFill>
                <a:latin typeface="Calibri"/>
              </a:rPr>
              <a:t>What the judges see: a proposal that argues the client's own priorities back to them — and a number saying how it would be scored.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43216" y="1773936"/>
            <a:ext cx="4178808" cy="4059936"/>
          </a:xfrm>
          <a:prstGeom prst="rect">
            <a:avLst/>
          </a:prstGeom>
          <a:solidFill>
            <a:srgbClr val="F1F4F7"/>
          </a:solidFill>
          <a:ln w="15875">
            <a:solidFill>
              <a:srgbClr val="4A5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3474720"/>
            <a:ext cx="36301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4A5A6E"/>
                </a:solidFill>
                <a:latin typeface="Calibri"/>
              </a:rPr>
              <a:t>[ Screenshot: paste UI capture here ]</a:t>
            </a:r>
          </a:p>
          <a:p>
            <a:pPr algn="ctr"/>
            <a:r>
              <a:rPr sz="1200" b="0" i="1">
                <a:solidFill>
                  <a:srgbClr val="4A5A6E"/>
                </a:solidFill>
                <a:latin typeface="Calibri"/>
              </a:rPr>
              <a:t>Front end built; backend in progress at time of writing.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5980176"/>
            <a:ext cx="4178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4A5A6E"/>
                </a:solidFill>
                <a:latin typeface="Calibri"/>
              </a:rPr>
              <a:t>Live walkthrough delivered in the demo slot.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5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C0642A"/>
                </a:solidFill>
                <a:latin typeface="Calibri"/>
              </a:rPr>
              <a:t>IMPACT  ·  PATH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55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0F2540"/>
                </a:solidFill>
                <a:latin typeface="Calibri"/>
              </a:rPr>
              <a:t>Faster is table stakes. We play for the 45% that decides.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99616"/>
            <a:ext cx="1371600" cy="41148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6382512"/>
            <a:ext cx="1197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4A5A6E"/>
                </a:solidFill>
                <a:latin typeface="Calibri"/>
              </a:rPr>
              <a:t>4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BUSINESS VALUE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More pursuits answered, at steadier quality.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Effort moves to the criteria carrying the most weight: demonstrated understanding, roughly 45% of a rubric, against ~15% for functionality.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9564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7308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PILOT PLAN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1  Run in parallel on the next live pursuit, beside the human draft.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2  Stand up a curated library of credentials, proposals and case studies — the main dependency, and empty today.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3  Partner review before anything ships. A rule, not a setting.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WHAT WE WILL MEASURE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Draft-to-first-review time.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Rubric completeness rate.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Predicted versus actual evaluator score.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Win rate where it was used.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Baselines set in the pilot. Nothing claimed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4836" y="1773936"/>
            <a:ext cx="2647188" cy="3310128"/>
          </a:xfrm>
          <a:prstGeom prst="rect">
            <a:avLst/>
          </a:prstGeom>
          <a:solidFill>
            <a:srgbClr val="F1F4F7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12580" y="1975104"/>
            <a:ext cx="217170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 spc="80">
                <a:solidFill>
                  <a:srgbClr val="0F2540"/>
                </a:solidFill>
                <a:latin typeface="Calibri"/>
              </a:rPr>
              <a:t>RISKS, HONESTLY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Invented credentials or client facts.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One uniform voice across every pursuit.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Confidentiality of client RFP material.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4A5A6E"/>
                </a:solidFill>
                <a:latin typeface="Calibri"/>
              </a:rPr>
              <a:t>Mitigation: partner sign-off on anything sent, and a cited source behind every claim.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340096"/>
            <a:ext cx="11055096" cy="1060704"/>
          </a:xfrm>
          <a:prstGeom prst="rect">
            <a:avLst/>
          </a:prstGeom>
          <a:solidFill>
            <a:srgbClr val="0B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340096"/>
            <a:ext cx="64008" cy="1060704"/>
          </a:xfrm>
          <a:prstGeom prst="rect">
            <a:avLst/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522976"/>
            <a:ext cx="10469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100">
                <a:solidFill>
                  <a:srgbClr val="C0642A"/>
                </a:solidFill>
                <a:latin typeface="Calibri"/>
              </a:rPr>
              <a:t>ABERDEEN LABS FIT  ·  REUSABILITY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D9E1EA"/>
                </a:solidFill>
                <a:latin typeface="Calibri"/>
              </a:rPr>
              <a:t>Ingest-and-structure, score-against-a-rubric and write-from-our-real-values lift straight into pitch decks, QBRs and any pursuit artifact. The buy-side rubric library behind the scoring is an Aberdeen asset no competitor can copy.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