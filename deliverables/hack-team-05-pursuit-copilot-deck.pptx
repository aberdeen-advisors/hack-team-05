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02336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spc="140">
                <a:solidFill>
                  <a:srgbClr val="C0642A"/>
                </a:solidFill>
                <a:latin typeface="Calibri"/>
              </a:rPr>
              <a:t>ABERDEEN HACKATHON  ·  TEAM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676656"/>
            <a:ext cx="7315200" cy="530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0F2540"/>
                </a:solidFill>
                <a:latin typeface="Calibri"/>
              </a:rPr>
              <a:t>RFP Pursuit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18954"/>
            <a:ext cx="384048" cy="2743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43584"/>
            <a:ext cx="9692640" cy="254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A5A6E"/>
                </a:solidFill>
                <a:latin typeface="Calibri"/>
              </a:rPr>
              <a:t>Turns a 30–80 page RFP into win themes, a pursuit strategy and a first-draft proposal, for the Aberdeen pursuit team.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008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 i="0">
                <a:solidFill>
                  <a:srgbClr val="4A5A6E"/>
                </a:solidFill>
                <a:latin typeface="Calibri"/>
              </a:rPr>
              <a:t>1 /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95728"/>
            <a:ext cx="6803136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36844"/>
            <a:ext cx="6382512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761488"/>
            <a:ext cx="6254496" cy="47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 i="0">
                <a:solidFill>
                  <a:srgbClr val="1A2733"/>
                </a:solidFill>
                <a:latin typeface="Calibri"/>
              </a:rPr>
              <a:t>Seven days to respond.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 The first 48 hours go to structure and boilerplate, not to the client.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299876"/>
            <a:ext cx="6254496" cy="47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 i="0">
                <a:solidFill>
                  <a:srgbClr val="1A2733"/>
                </a:solidFill>
                <a:latin typeface="Calibri"/>
              </a:rPr>
              <a:t>Every bidder sounds the same.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 Rivals send similar credentials and the same generic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3838265"/>
            <a:ext cx="6254496" cy="47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 i="0">
                <a:solidFill>
                  <a:srgbClr val="1A2733"/>
                </a:solidFill>
                <a:latin typeface="Calibri"/>
              </a:rPr>
              <a:t>The scoring punishes it.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 Clients grade demonstrated understanding above capability lists.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6559" y="2715768"/>
            <a:ext cx="12801" cy="1236520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1238" y="2813789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1238" y="3352177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1238" y="3890566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495525"/>
            <a:ext cx="6803136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536641"/>
            <a:ext cx="6382512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Who It's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861285"/>
            <a:ext cx="6254496" cy="2463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1A2733"/>
                </a:solidFill>
                <a:latin typeface="Calibri"/>
              </a:rPr>
              <a:t>The BD lead, partner and SME sharing hours 0–48 of a seven-day window.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6559" y="4815565"/>
            <a:ext cx="12801" cy="159743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1238" y="4913586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99248" y="2395728"/>
            <a:ext cx="3922775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2436844"/>
            <a:ext cx="3502151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What The Client Wrote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2761488"/>
            <a:ext cx="3374135" cy="8327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1">
                <a:solidFill>
                  <a:srgbClr val="1A2733"/>
                </a:solidFill>
                <a:latin typeface="Georgia"/>
              </a:rPr>
              <a:t>“Wayfarer Market Co. puts 30% of its score on Understanding of Brand &amp; Crew Culture — and explicitly rejects the cut-costs, loyalty-program, more-ads playbook.”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658235"/>
            <a:ext cx="2953511" cy="629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33414F"/>
                </a:solidFill>
                <a:latin typeface="Calibri"/>
              </a:rPr>
              <a:t>Read:</a:t>
            </a:r>
            <a:r>
              <a:rPr sz="1250" b="0" i="0">
                <a:solidFill>
                  <a:srgbClr val="33414F"/>
                </a:solidFill>
                <a:latin typeface="Calibri"/>
              </a:rPr>
              <a:t> the generic proposal does not just underwhelm. It loses on the criteria the client wrote down.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3725751"/>
            <a:ext cx="68580" cy="68580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48879" y="2715768"/>
            <a:ext cx="12801" cy="147526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93557" y="2801572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400800"/>
            <a:ext cx="5852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4A5A6E"/>
                </a:solidFill>
                <a:latin typeface="Calibri"/>
              </a:rPr>
              <a:t>Carrie Stout  ·  CJ Johnson  ·  Jordan Cook  ·  Preetish Rath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02336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spc="140">
                <a:solidFill>
                  <a:srgbClr val="C0642A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694944"/>
            <a:ext cx="10058400" cy="34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200" b="1" i="0">
                <a:solidFill>
                  <a:srgbClr val="0F2540"/>
                </a:solidFill>
                <a:latin typeface="Calibri"/>
              </a:rPr>
              <a:t>Upload the RFP; the copilot returns a point of view, not a template.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6884"/>
            <a:ext cx="384048" cy="2743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02975" y="64008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 i="0">
                <a:solidFill>
                  <a:srgbClr val="4A5A6E"/>
                </a:solidFill>
                <a:latin typeface="Calibri"/>
              </a:rPr>
              <a:t>2 /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2288"/>
            <a:ext cx="6803136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23404"/>
            <a:ext cx="6382512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1648048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Ingest.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RFP, Aberdeen credentials, prior proposals, case studies.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1942101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Analyze.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Objectives, requirements, constraints, evaluation criteria.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2236155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Draft.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Win themes first — then approach, staffing, timeline, copy.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2530208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Score.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Predicted rubric score and completeness check before send.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6559" y="1602328"/>
            <a:ext cx="12801" cy="1033758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1238" y="1692205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1238" y="1986258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1238" y="2280311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1238" y="2574364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943133"/>
            <a:ext cx="6803136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984249"/>
            <a:ext cx="6382512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What It Hands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3308893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Three win themes,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tied to the client's stated priorities.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602946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Solution approach,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staffing model and timeline.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" y="3897000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Aberdeen experience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ranked by relevance — and why it is relevant.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" y="4191053"/>
            <a:ext cx="6254496" cy="4418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First-draft copy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for the opening sections, structured to the client's own required response items.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" y="4696863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A Response Action per requirement: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what it asks of 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90917"/>
            <a:ext cx="5833872" cy="22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33414F"/>
                </a:solidFill>
                <a:latin typeface="Calibri"/>
              </a:rPr>
              <a:t>Controlled vocabulary, five values: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5058433"/>
            <a:ext cx="68580" cy="68580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64207" y="5263109"/>
            <a:ext cx="5632704" cy="40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– Address · Provide Information · Provide Attachment · Acknowledge / Confirm · Deliverable if Awarded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6559" y="3263173"/>
            <a:ext cx="12801" cy="1539568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1238" y="3353050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1238" y="3647103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1238" y="3941156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1238" y="4235209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1238" y="4741020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99248" y="1282288"/>
            <a:ext cx="3922775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6992" y="1323404"/>
            <a:ext cx="3502151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The Part Nobody Else Built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1648048"/>
            <a:ext cx="3374135" cy="4418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It grades itself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against the client's own weighted rubric before you send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2153859"/>
            <a:ext cx="3374135" cy="4418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We have been the buy-side judge for years, so we already hold the scoring sheets.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74736" y="2659669"/>
            <a:ext cx="3374135" cy="4418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Completeness check: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an unanswered requirement is a non-responsive bid.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4736" y="3165480"/>
            <a:ext cx="3374135" cy="8653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“Why Aberdeen”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comes from our Culture Charter — low-ego, high-ownership partnership — with every claim citing its source.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48879" y="1602328"/>
            <a:ext cx="12801" cy="1669030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93557" y="1692205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93557" y="2198015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893557" y="2703826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893557" y="3209636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345936"/>
            <a:ext cx="10058400" cy="217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1">
                <a:solidFill>
                  <a:srgbClr val="4A5A6E"/>
                </a:solidFill>
                <a:latin typeface="Calibri"/>
              </a:rPr>
              <a:t>Drafts are written to sound like people wrote them: warm, specific and about the client. Review before send, always.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02336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spc="140">
                <a:solidFill>
                  <a:srgbClr val="C0642A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694944"/>
            <a:ext cx="10058400" cy="34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200" b="1" i="0">
                <a:solidFill>
                  <a:srgbClr val="0F2540"/>
                </a:solidFill>
                <a:latin typeface="Calibri"/>
              </a:rPr>
              <a:t>A Wayfarer Market Co. walkthrough, from upload to predicted 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6884"/>
            <a:ext cx="384048" cy="2743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02975" y="64008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 i="0">
                <a:solidFill>
                  <a:srgbClr val="4A5A6E"/>
                </a:solidFill>
                <a:latin typeface="Calibri"/>
              </a:rPr>
              <a:t>3 /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2288"/>
            <a:ext cx="6803136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23404"/>
            <a:ext cx="6382512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The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1648048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Specialty grocer,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~500 stores, ~50,000 crew. Grow revenue, keep crew culture intact.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6559" y="1602328"/>
            <a:ext cx="12801" cy="151598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1238" y="1692205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060973"/>
            <a:ext cx="6803136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102090"/>
            <a:ext cx="6382512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Walkthrough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2426733"/>
            <a:ext cx="6254496" cy="4418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1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Copilot parses the RFP: scope, deliverables D1–D5, requirements 5.1–5.7, weighted criteria, page limit.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2932544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2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It pins the non-negotiable up front: nothing that erodes crew culture.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" y="3226597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3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Win themes come back in Wayfarer's language — crew first, growth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" y="3520650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4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The draft assembles against Exhibit B, the client's ten required response items.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3814704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5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Predicted score names the gap: the playbook fails the 30% culture criterion.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6559" y="2381013"/>
            <a:ext cx="12801" cy="1539568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1238" y="2470890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1238" y="2976700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238" y="3270754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1238" y="3564807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1238" y="3858860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" y="4191053"/>
            <a:ext cx="6254496" cy="41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1">
                <a:solidFill>
                  <a:srgbClr val="4A5A6E"/>
                </a:solidFill>
                <a:latin typeface="Calibri"/>
              </a:rPr>
              <a:t>What the judges see: a proposal that argues the client's own priorities back to them — and a number saying how it would be scored.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99248" y="1282288"/>
            <a:ext cx="3922775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36992" y="1323404"/>
            <a:ext cx="3502151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The Screen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99248" y="1648048"/>
            <a:ext cx="3922775" cy="3566160"/>
          </a:xfrm>
          <a:prstGeom prst="rect">
            <a:avLst/>
          </a:prstGeom>
          <a:solidFill>
            <a:srgbClr val="F4F6F9"/>
          </a:solidFill>
          <a:ln w="15875">
            <a:solidFill>
              <a:srgbClr val="4A5A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3568" y="3047080"/>
            <a:ext cx="337413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700"/>
              </a:spcAft>
            </a:pPr>
            <a:r>
              <a:rPr sz="1300" b="1" i="0">
                <a:solidFill>
                  <a:srgbClr val="4A5A6E"/>
                </a:solidFill>
                <a:latin typeface="Calibri"/>
              </a:rPr>
              <a:t>[ Screenshot: paste UI capture here ]</a:t>
            </a:r>
          </a:p>
          <a:p>
            <a:pPr algn="ctr">
              <a:lnSpc>
                <a:spcPct val="106000"/>
              </a:lnSpc>
            </a:pPr>
            <a:r>
              <a:rPr sz="1200" b="0" i="1">
                <a:solidFill>
                  <a:srgbClr val="4A5A6E"/>
                </a:solidFill>
                <a:latin typeface="Calibri"/>
              </a:rPr>
              <a:t>Front end built; backend in progress at time of writing.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5342224"/>
            <a:ext cx="39227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 i="0">
                <a:solidFill>
                  <a:srgbClr val="4A5A6E"/>
                </a:solidFill>
                <a:latin typeface="Calibri"/>
              </a:rPr>
              <a:t>Live walkthrough delivered in the demo slot.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02336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spc="140">
                <a:solidFill>
                  <a:srgbClr val="C0642A"/>
                </a:solidFill>
                <a:latin typeface="Calibri"/>
              </a:rPr>
              <a:t>IMPACT  ·  PATH TO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694944"/>
            <a:ext cx="10058400" cy="34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200" b="1" i="0">
                <a:solidFill>
                  <a:srgbClr val="0F2540"/>
                </a:solidFill>
                <a:latin typeface="Calibri"/>
              </a:rPr>
              <a:t>Where the value sits, how we would pilot it, what could go wrong.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6884"/>
            <a:ext cx="384048" cy="2743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02975" y="64008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 i="0">
                <a:solidFill>
                  <a:srgbClr val="4A5A6E"/>
                </a:solidFill>
                <a:latin typeface="Calibri"/>
              </a:rPr>
              <a:t>4 /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2288"/>
            <a:ext cx="6803136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23404"/>
            <a:ext cx="6382512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1648048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More pursuits answered, at steadier quality.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1942101"/>
            <a:ext cx="6254496" cy="4418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Effort moves to the heaviest criteria: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demonstrated understanding is roughly 45% of a rubric, against ~15% for functionality.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6559" y="1602328"/>
            <a:ext cx="12801" cy="445651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238" y="1692205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1238" y="1986258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566784"/>
            <a:ext cx="6803136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07900"/>
            <a:ext cx="6382512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Pilot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" y="2932544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1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Run in parallel on the next live pursuit, beside the human draft.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" y="3226597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2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Stand up a curated library of credentials, proposals and case studies.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520650"/>
            <a:ext cx="5833872" cy="22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33414F"/>
                </a:solidFill>
                <a:latin typeface="Calibri"/>
              </a:rPr>
              <a:t>The main dependency — and empty today.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3588167"/>
            <a:ext cx="68580" cy="68580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" y="3792843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3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Partner review before anything ships. A rule, not a setting.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6559" y="2886824"/>
            <a:ext cx="12801" cy="1011897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238" y="2976700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1238" y="3270754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1238" y="3837000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05768"/>
            <a:ext cx="6803136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246885"/>
            <a:ext cx="6382512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Risks, Honestly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" y="4571528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Invented credentials or client facts.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" y="4865582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One uniform voice across every pursuit.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" y="5159635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Confidentiality of client RFP material.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5453688"/>
            <a:ext cx="6254496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A2733"/>
                </a:solidFill>
                <a:latin typeface="Calibri"/>
              </a:rPr>
              <a:t>Mitigation: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 partner sign-off on anything sent, and a cited source behind every claim.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6559" y="4525808"/>
            <a:ext cx="12801" cy="1033758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1238" y="4615685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1238" y="4909738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1238" y="5203791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1238" y="5497845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99248" y="1282288"/>
            <a:ext cx="3922775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1323404"/>
            <a:ext cx="3502151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What We'll Measure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74736" y="1648048"/>
            <a:ext cx="3374135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Draft-to-first-review time.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4736" y="1942101"/>
            <a:ext cx="3374135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Rubric completeness rate.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4736" y="2236155"/>
            <a:ext cx="3374135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Predicted versus actual evaluator score.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74736" y="2530208"/>
            <a:ext cx="3374135" cy="230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Win rate where it was used.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2824261"/>
            <a:ext cx="2953511" cy="425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33414F"/>
                </a:solidFill>
                <a:latin typeface="Calibri"/>
              </a:rPr>
              <a:t>Baselines set in the pilot. Nothing claimed yet.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891777"/>
            <a:ext cx="68580" cy="68580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48879" y="1602328"/>
            <a:ext cx="12801" cy="1033758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93557" y="1692205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893557" y="1986258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93557" y="2280311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893557" y="2574364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699248" y="3432655"/>
            <a:ext cx="3922775" cy="274320"/>
          </a:xfrm>
          <a:prstGeom prst="roundRect">
            <a:avLst>
              <a:gd name="adj" fmla="val 20000"/>
            </a:avLst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36992" y="3473771"/>
            <a:ext cx="3502151" cy="210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60">
                <a:solidFill>
                  <a:srgbClr val="FFFFFF"/>
                </a:solidFill>
                <a:latin typeface="Calibri"/>
              </a:rPr>
              <a:t>Aberdeen Labs Fit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74736" y="3798415"/>
            <a:ext cx="3374135" cy="653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Ingest-and-structure, score-against-a-rubric and write-from-our-real-values lift straight into pitch decks, QBRs and any pursuit artifact.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74736" y="4515982"/>
            <a:ext cx="3374135" cy="4418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A2733"/>
                </a:solidFill>
                <a:latin typeface="Calibri"/>
              </a:rPr>
              <a:t>The buy-side rubric library behind the scoring is an Aberdeen asset no competitor can copy.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48879" y="3752695"/>
            <a:ext cx="12801" cy="869166"/>
          </a:xfrm>
          <a:prstGeom prst="rect">
            <a:avLst/>
          </a:prstGeom>
          <a:solidFill>
            <a:srgbClr val="D3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893557" y="3842571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893557" y="4560139"/>
            <a:ext cx="123444" cy="1234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6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