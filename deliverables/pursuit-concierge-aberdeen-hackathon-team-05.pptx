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6C6C"/>
    <a:srgbClr val="0937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53223-C951-43CB-ABBE-924D5D5BEE34}" v="66" dt="2026-08-12T21:32:12.113"/>
    <p1510:client id="{7F4D5595-150C-4509-8B16-E2EC50912CAA}" v="284" dt="2026-08-12T21:34:47.217"/>
    <p1510:client id="{C58511F6-2184-482A-85E3-47A93C07CAD8}" v="22" dt="2026-08-12T21:36:11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e Stout" userId="b37f3665-4d77-40e2-8560-d7f0cb932522" providerId="ADAL" clId="{631AB0B8-8ED6-46F7-B413-A7655EEB4D40}"/>
    <pc:docChg chg="custSel modSld">
      <pc:chgData name="Carrie Stout" userId="b37f3665-4d77-40e2-8560-d7f0cb932522" providerId="ADAL" clId="{631AB0B8-8ED6-46F7-B413-A7655EEB4D40}" dt="2026-08-12T21:36:11.541" v="21" actId="478"/>
      <pc:docMkLst>
        <pc:docMk/>
      </pc:docMkLst>
      <pc:sldChg chg="modSp mod">
        <pc:chgData name="Carrie Stout" userId="b37f3665-4d77-40e2-8560-d7f0cb932522" providerId="ADAL" clId="{631AB0B8-8ED6-46F7-B413-A7655EEB4D40}" dt="2026-08-12T21:34:03.896" v="17" actId="20577"/>
        <pc:sldMkLst>
          <pc:docMk/>
          <pc:sldMk cId="0" sldId="256"/>
        </pc:sldMkLst>
        <pc:spChg chg="mod">
          <ac:chgData name="Carrie Stout" userId="b37f3665-4d77-40e2-8560-d7f0cb932522" providerId="ADAL" clId="{631AB0B8-8ED6-46F7-B413-A7655EEB4D40}" dt="2026-08-12T21:34:03.896" v="17" actId="20577"/>
          <ac:spMkLst>
            <pc:docMk/>
            <pc:sldMk cId="0" sldId="256"/>
            <ac:spMk id="5" creationId="{00000000-0000-0000-0000-000000000000}"/>
          </ac:spMkLst>
        </pc:spChg>
        <pc:picChg chg="mod">
          <ac:chgData name="Carrie Stout" userId="b37f3665-4d77-40e2-8560-d7f0cb932522" providerId="ADAL" clId="{631AB0B8-8ED6-46F7-B413-A7655EEB4D40}" dt="2026-08-12T21:30:37.859" v="0" actId="14861"/>
          <ac:picMkLst>
            <pc:docMk/>
            <pc:sldMk cId="0" sldId="256"/>
            <ac:picMk id="9" creationId="{65A1E1DD-871C-F4C6-6A8B-C8A388CF3B03}"/>
          </ac:picMkLst>
        </pc:picChg>
      </pc:sldChg>
      <pc:sldChg chg="modSp mod">
        <pc:chgData name="Carrie Stout" userId="b37f3665-4d77-40e2-8560-d7f0cb932522" providerId="ADAL" clId="{631AB0B8-8ED6-46F7-B413-A7655EEB4D40}" dt="2026-08-12T21:35:18.503" v="19" actId="20577"/>
        <pc:sldMkLst>
          <pc:docMk/>
          <pc:sldMk cId="0" sldId="257"/>
        </pc:sldMkLst>
        <pc:spChg chg="mod">
          <ac:chgData name="Carrie Stout" userId="b37f3665-4d77-40e2-8560-d7f0cb932522" providerId="ADAL" clId="{631AB0B8-8ED6-46F7-B413-A7655EEB4D40}" dt="2026-08-12T21:35:18.503" v="19" actId="20577"/>
          <ac:spMkLst>
            <pc:docMk/>
            <pc:sldMk cId="0" sldId="257"/>
            <ac:spMk id="12" creationId="{00000000-0000-0000-0000-000000000000}"/>
          </ac:spMkLst>
        </pc:spChg>
      </pc:sldChg>
      <pc:sldChg chg="delSp modSp mod">
        <pc:chgData name="Carrie Stout" userId="b37f3665-4d77-40e2-8560-d7f0cb932522" providerId="ADAL" clId="{631AB0B8-8ED6-46F7-B413-A7655EEB4D40}" dt="2026-08-12T21:36:11.541" v="21" actId="478"/>
        <pc:sldMkLst>
          <pc:docMk/>
          <pc:sldMk cId="0" sldId="258"/>
        </pc:sldMkLst>
        <pc:spChg chg="del mod">
          <ac:chgData name="Carrie Stout" userId="b37f3665-4d77-40e2-8560-d7f0cb932522" providerId="ADAL" clId="{631AB0B8-8ED6-46F7-B413-A7655EEB4D40}" dt="2026-08-12T21:36:11.541" v="21" actId="478"/>
          <ac:spMkLst>
            <pc:docMk/>
            <pc:sldMk cId="0" sldId="258"/>
            <ac:spMk id="9" creationId="{00000000-0000-0000-0000-000000000000}"/>
          </ac:spMkLst>
        </pc:spChg>
        <pc:picChg chg="mod">
          <ac:chgData name="Carrie Stout" userId="b37f3665-4d77-40e2-8560-d7f0cb932522" providerId="ADAL" clId="{631AB0B8-8ED6-46F7-B413-A7655EEB4D40}" dt="2026-08-12T21:33:05.649" v="1" actId="14861"/>
          <ac:picMkLst>
            <pc:docMk/>
            <pc:sldMk cId="0" sldId="258"/>
            <ac:picMk id="16" creationId="{8BDC8A36-AAC1-E60E-B2BF-A1282175F156}"/>
          </ac:picMkLst>
        </pc:picChg>
        <pc:picChg chg="mod">
          <ac:chgData name="Carrie Stout" userId="b37f3665-4d77-40e2-8560-d7f0cb932522" providerId="ADAL" clId="{631AB0B8-8ED6-46F7-B413-A7655EEB4D40}" dt="2026-08-12T21:33:13.634" v="2" actId="14861"/>
          <ac:picMkLst>
            <pc:docMk/>
            <pc:sldMk cId="0" sldId="258"/>
            <ac:picMk id="22" creationId="{7F90B128-5696-E805-645D-3BCCCEEB6F5F}"/>
          </ac:picMkLst>
        </pc:picChg>
      </pc:sldChg>
    </pc:docChg>
  </pc:docChgLst>
  <pc:docChgLst>
    <pc:chgData name="Catherine Johnson" userId="4e9badfc-1220-4473-8927-0b3b50d4c894" providerId="ADAL" clId="{74D8FD4B-C73E-4C79-BD9B-8CE3A595D747}"/>
    <pc:docChg chg="undo custSel modSld">
      <pc:chgData name="Catherine Johnson" userId="4e9badfc-1220-4473-8927-0b3b50d4c894" providerId="ADAL" clId="{74D8FD4B-C73E-4C79-BD9B-8CE3A595D747}" dt="2026-08-12T21:32:12.113" v="65" actId="20577"/>
      <pc:docMkLst>
        <pc:docMk/>
      </pc:docMkLst>
      <pc:sldChg chg="addSp delSp modSp mod">
        <pc:chgData name="Catherine Johnson" userId="4e9badfc-1220-4473-8927-0b3b50d4c894" providerId="ADAL" clId="{74D8FD4B-C73E-4C79-BD9B-8CE3A595D747}" dt="2026-08-12T21:32:12.113" v="65" actId="20577"/>
        <pc:sldMkLst>
          <pc:docMk/>
          <pc:sldMk cId="0" sldId="258"/>
        </pc:sldMkLst>
        <pc:spChg chg="mod">
          <ac:chgData name="Catherine Johnson" userId="4e9badfc-1220-4473-8927-0b3b50d4c894" providerId="ADAL" clId="{74D8FD4B-C73E-4C79-BD9B-8CE3A595D747}" dt="2026-08-12T21:31:17.813" v="49" actId="2085"/>
          <ac:spMkLst>
            <pc:docMk/>
            <pc:sldMk cId="0" sldId="258"/>
            <ac:spMk id="9" creationId="{00000000-0000-0000-0000-000000000000}"/>
          </ac:spMkLst>
        </pc:spChg>
        <pc:spChg chg="del">
          <ac:chgData name="Catherine Johnson" userId="4e9badfc-1220-4473-8927-0b3b50d4c894" providerId="ADAL" clId="{74D8FD4B-C73E-4C79-BD9B-8CE3A595D747}" dt="2026-08-12T21:30:28.505" v="35" actId="2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Catherine Johnson" userId="4e9badfc-1220-4473-8927-0b3b50d4c894" providerId="ADAL" clId="{74D8FD4B-C73E-4C79-BD9B-8CE3A595D747}" dt="2026-08-12T21:30:28.505" v="35" actId="21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Catherine Johnson" userId="4e9badfc-1220-4473-8927-0b3b50d4c894" providerId="ADAL" clId="{74D8FD4B-C73E-4C79-BD9B-8CE3A595D747}" dt="2026-08-12T21:30:47.153" v="47" actId="20577"/>
          <ac:spMkLst>
            <pc:docMk/>
            <pc:sldMk cId="0" sldId="258"/>
            <ac:spMk id="13" creationId="{D2815761-87E9-288D-744A-11A3EF86A69A}"/>
          </ac:spMkLst>
        </pc:spChg>
        <pc:spChg chg="del">
          <ac:chgData name="Catherine Johnson" userId="4e9badfc-1220-4473-8927-0b3b50d4c894" providerId="ADAL" clId="{74D8FD4B-C73E-4C79-BD9B-8CE3A595D747}" dt="2026-08-12T21:30:16.195" v="30" actId="478"/>
          <ac:spMkLst>
            <pc:docMk/>
            <pc:sldMk cId="0" sldId="258"/>
            <ac:spMk id="14" creationId="{7A5C1BC5-6976-3007-696B-5C652CE5BB76}"/>
          </ac:spMkLst>
        </pc:spChg>
        <pc:spChg chg="add mod">
          <ac:chgData name="Catherine Johnson" userId="4e9badfc-1220-4473-8927-0b3b50d4c894" providerId="ADAL" clId="{74D8FD4B-C73E-4C79-BD9B-8CE3A595D747}" dt="2026-08-12T21:32:12.113" v="65" actId="20577"/>
          <ac:spMkLst>
            <pc:docMk/>
            <pc:sldMk cId="0" sldId="258"/>
            <ac:spMk id="17" creationId="{94199F90-AF5D-F368-F887-A3E81C2C0FA4}"/>
          </ac:spMkLst>
        </pc:spChg>
        <pc:picChg chg="mod">
          <ac:chgData name="Catherine Johnson" userId="4e9badfc-1220-4473-8927-0b3b50d4c894" providerId="ADAL" clId="{74D8FD4B-C73E-4C79-BD9B-8CE3A595D747}" dt="2026-08-12T21:30:31.736" v="36" actId="1076"/>
          <ac:picMkLst>
            <pc:docMk/>
            <pc:sldMk cId="0" sldId="258"/>
            <ac:picMk id="16" creationId="{8BDC8A36-AAC1-E60E-B2BF-A1282175F156}"/>
          </ac:picMkLst>
        </pc:picChg>
        <pc:picChg chg="mod">
          <ac:chgData name="Catherine Johnson" userId="4e9badfc-1220-4473-8927-0b3b50d4c894" providerId="ADAL" clId="{74D8FD4B-C73E-4C79-BD9B-8CE3A595D747}" dt="2026-08-12T21:30:31.736" v="36" actId="1076"/>
          <ac:picMkLst>
            <pc:docMk/>
            <pc:sldMk cId="0" sldId="258"/>
            <ac:picMk id="22" creationId="{7F90B128-5696-E805-645D-3BCCCEEB6F5F}"/>
          </ac:picMkLst>
        </pc:picChg>
      </pc:sldChg>
      <pc:sldChg chg="modSp mod">
        <pc:chgData name="Catherine Johnson" userId="4e9badfc-1220-4473-8927-0b3b50d4c894" providerId="ADAL" clId="{74D8FD4B-C73E-4C79-BD9B-8CE3A595D747}" dt="2026-08-12T21:30:06.077" v="29" actId="1035"/>
        <pc:sldMkLst>
          <pc:docMk/>
          <pc:sldMk cId="0" sldId="259"/>
        </pc:sldMkLst>
        <pc:spChg chg="mod">
          <ac:chgData name="Catherine Johnson" userId="4e9badfc-1220-4473-8927-0b3b50d4c894" providerId="ADAL" clId="{74D8FD4B-C73E-4C79-BD9B-8CE3A595D747}" dt="2026-08-12T21:30:06.077" v="29" actId="1035"/>
          <ac:spMkLst>
            <pc:docMk/>
            <pc:sldMk cId="0" sldId="259"/>
            <ac:spMk id="5" creationId="{00000000-0000-0000-0000-000000000000}"/>
          </ac:spMkLst>
        </pc:spChg>
        <pc:spChg chg="mod">
          <ac:chgData name="Catherine Johnson" userId="4e9badfc-1220-4473-8927-0b3b50d4c894" providerId="ADAL" clId="{74D8FD4B-C73E-4C79-BD9B-8CE3A595D747}" dt="2026-08-12T21:30:06.077" v="29" actId="1035"/>
          <ac:spMkLst>
            <pc:docMk/>
            <pc:sldMk cId="0" sldId="259"/>
            <ac:spMk id="7" creationId="{00000000-0000-0000-0000-000000000000}"/>
          </ac:spMkLst>
        </pc:spChg>
        <pc:spChg chg="mod">
          <ac:chgData name="Catherine Johnson" userId="4e9badfc-1220-4473-8927-0b3b50d4c894" providerId="ADAL" clId="{74D8FD4B-C73E-4C79-BD9B-8CE3A595D747}" dt="2026-08-12T21:30:06.077" v="29" actId="1035"/>
          <ac:spMkLst>
            <pc:docMk/>
            <pc:sldMk cId="0" sldId="259"/>
            <ac:spMk id="9" creationId="{00000000-0000-0000-0000-000000000000}"/>
          </ac:spMkLst>
        </pc:spChg>
        <pc:spChg chg="mod">
          <ac:chgData name="Catherine Johnson" userId="4e9badfc-1220-4473-8927-0b3b50d4c894" providerId="ADAL" clId="{74D8FD4B-C73E-4C79-BD9B-8CE3A595D747}" dt="2026-08-12T21:30:06.077" v="29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atherine Johnson" userId="4e9badfc-1220-4473-8927-0b3b50d4c894" providerId="ADAL" clId="{74D8FD4B-C73E-4C79-BD9B-8CE3A595D747}" dt="2026-08-12T21:30:06.077" v="29" actId="1035"/>
          <ac:spMkLst>
            <pc:docMk/>
            <pc:sldMk cId="0" sldId="259"/>
            <ac:spMk id="13" creationId="{00000000-0000-0000-0000-000000000000}"/>
          </ac:spMkLst>
        </pc:spChg>
      </pc:sldChg>
    </pc:docChg>
  </pc:docChgLst>
  <pc:docChgLst>
    <pc:chgData name="Jordan Cook" userId="c9785a26-803d-46e1-aa1c-b8de793701c6" providerId="ADAL" clId="{AA3E5468-F2D1-4E6B-B6D4-886120F79A11}"/>
    <pc:docChg chg="undo custSel modSld">
      <pc:chgData name="Jordan Cook" userId="c9785a26-803d-46e1-aa1c-b8de793701c6" providerId="ADAL" clId="{AA3E5468-F2D1-4E6B-B6D4-886120F79A11}" dt="2026-08-12T21:34:47.217" v="288" actId="20577"/>
      <pc:docMkLst>
        <pc:docMk/>
      </pc:docMkLst>
      <pc:sldChg chg="modSp mod">
        <pc:chgData name="Jordan Cook" userId="c9785a26-803d-46e1-aa1c-b8de793701c6" providerId="ADAL" clId="{AA3E5468-F2D1-4E6B-B6D4-886120F79A11}" dt="2026-08-12T21:33:13.853" v="278" actId="20577"/>
        <pc:sldMkLst>
          <pc:docMk/>
          <pc:sldMk cId="0" sldId="256"/>
        </pc:sldMkLst>
        <pc:spChg chg="mod">
          <ac:chgData name="Jordan Cook" userId="c9785a26-803d-46e1-aa1c-b8de793701c6" providerId="ADAL" clId="{AA3E5468-F2D1-4E6B-B6D4-886120F79A11}" dt="2026-08-12T21:33:13.853" v="278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Jordan Cook" userId="c9785a26-803d-46e1-aa1c-b8de793701c6" providerId="ADAL" clId="{AA3E5468-F2D1-4E6B-B6D4-886120F79A11}" dt="2026-08-12T21:34:47.217" v="288" actId="20577"/>
        <pc:sldMkLst>
          <pc:docMk/>
          <pc:sldMk cId="0" sldId="257"/>
        </pc:sldMkLst>
        <pc:spChg chg="mod">
          <ac:chgData name="Jordan Cook" userId="c9785a26-803d-46e1-aa1c-b8de793701c6" providerId="ADAL" clId="{AA3E5468-F2D1-4E6B-B6D4-886120F79A11}" dt="2026-08-12T21:34:44.028" v="286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Jordan Cook" userId="c9785a26-803d-46e1-aa1c-b8de793701c6" providerId="ADAL" clId="{AA3E5468-F2D1-4E6B-B6D4-886120F79A11}" dt="2026-08-12T21:34:47.217" v="288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Jordan Cook" userId="c9785a26-803d-46e1-aa1c-b8de793701c6" providerId="ADAL" clId="{AA3E5468-F2D1-4E6B-B6D4-886120F79A11}" dt="2026-08-12T21:34:33.242" v="280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Jordan Cook" userId="c9785a26-803d-46e1-aa1c-b8de793701c6" providerId="ADAL" clId="{AA3E5468-F2D1-4E6B-B6D4-886120F79A11}" dt="2026-08-12T21:30:02.422" v="78" actId="207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Jordan Cook" userId="c9785a26-803d-46e1-aa1c-b8de793701c6" providerId="ADAL" clId="{AA3E5468-F2D1-4E6B-B6D4-886120F79A11}" dt="2026-08-12T21:32:29.289" v="196" actId="1076"/>
        <pc:sldMkLst>
          <pc:docMk/>
          <pc:sldMk cId="0" sldId="258"/>
        </pc:sldMkLst>
        <pc:spChg chg="mod">
          <ac:chgData name="Jordan Cook" userId="c9785a26-803d-46e1-aa1c-b8de793701c6" providerId="ADAL" clId="{AA3E5468-F2D1-4E6B-B6D4-886120F79A11}" dt="2026-08-12T21:27:21.846" v="4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Jordan Cook" userId="c9785a26-803d-46e1-aa1c-b8de793701c6" providerId="ADAL" clId="{AA3E5468-F2D1-4E6B-B6D4-886120F79A11}" dt="2026-08-12T21:32:29.289" v="196" actId="1076"/>
          <ac:spMkLst>
            <pc:docMk/>
            <pc:sldMk cId="0" sldId="258"/>
            <ac:spMk id="17" creationId="{94199F90-AF5D-F368-F887-A3E81C2C0FA4}"/>
          </ac:spMkLst>
        </pc:spChg>
        <pc:picChg chg="mod">
          <ac:chgData name="Jordan Cook" userId="c9785a26-803d-46e1-aa1c-b8de793701c6" providerId="ADAL" clId="{AA3E5468-F2D1-4E6B-B6D4-886120F79A11}" dt="2026-08-12T21:27:12.585" v="0" actId="1076"/>
          <ac:picMkLst>
            <pc:docMk/>
            <pc:sldMk cId="0" sldId="258"/>
            <ac:picMk id="24" creationId="{C2095981-1239-43F8-67B5-76C63450064F}"/>
          </ac:picMkLst>
        </pc:picChg>
      </pc:sldChg>
      <pc:sldChg chg="modSp mod">
        <pc:chgData name="Jordan Cook" userId="c9785a26-803d-46e1-aa1c-b8de793701c6" providerId="ADAL" clId="{AA3E5468-F2D1-4E6B-B6D4-886120F79A11}" dt="2026-08-12T21:30:44.908" v="107" actId="14100"/>
        <pc:sldMkLst>
          <pc:docMk/>
          <pc:sldMk cId="0" sldId="259"/>
        </pc:sldMkLst>
        <pc:spChg chg="mod">
          <ac:chgData name="Jordan Cook" userId="c9785a26-803d-46e1-aa1c-b8de793701c6" providerId="ADAL" clId="{AA3E5468-F2D1-4E6B-B6D4-886120F79A11}" dt="2026-08-12T21:30:44.908" v="107" actId="14100"/>
          <ac:spMkLst>
            <pc:docMk/>
            <pc:sldMk cId="0" sldId="259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21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User-provided hackathon prompt and Aberdeen positioning language from this chat.
- Visual asset: AI-generated corporate pursuit teamwork image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User-provided hackathon prompt and Aberdeen positioning language from this chat.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User-provided hackathon prompt and Aberdeen positioning language from this chat.
- Visual asset: AI-generated workflow infographic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User-provided hackathon prompt and Aberdeen positioning language from this chat.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deen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1201400" cy="0"/>
          </a:xfrm>
          <a:prstGeom prst="line">
            <a:avLst/>
          </a:prstGeom>
          <a:noFill/>
          <a:ln w="19050">
            <a:solidFill>
              <a:srgbClr val="44B0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09375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09375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mnt/data/aberdeen_logo_whit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828800" cy="4123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572768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Pursuit</a:t>
            </a:r>
            <a:endParaRPr lang="en-US" sz="4400"/>
          </a:p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Concierge</a:t>
            </a:r>
            <a:endParaRPr lang="en-US" sz="4400"/>
          </a:p>
        </p:txBody>
      </p:sp>
      <p:sp>
        <p:nvSpPr>
          <p:cNvPr id="5" name="Text 1"/>
          <p:cNvSpPr/>
          <p:nvPr/>
        </p:nvSpPr>
        <p:spPr>
          <a:xfrm>
            <a:off x="685800" y="30632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AI-powered business development assistant for the time-sensitive RFP sprint.</a:t>
            </a:r>
            <a:endParaRPr lang="en-US" sz="1800"/>
          </a:p>
        </p:txBody>
      </p:sp>
      <p:sp>
        <p:nvSpPr>
          <p:cNvPr id="6" name="Text 2"/>
          <p:cNvSpPr/>
          <p:nvPr/>
        </p:nvSpPr>
        <p:spPr>
          <a:xfrm>
            <a:off x="685800" y="427939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44B0B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 every proposal feel researched, specific, and easy to say yes to.</a:t>
            </a:r>
            <a:endParaRPr lang="en-US" sz="1600"/>
          </a:p>
        </p:txBody>
      </p:sp>
      <p:sp>
        <p:nvSpPr>
          <p:cNvPr id="7" name="Text 3"/>
          <p:cNvSpPr/>
          <p:nvPr/>
        </p:nvSpPr>
        <p:spPr>
          <a:xfrm>
            <a:off x="685800" y="6053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 Team 05 | Carrie Stout, CJ Johnson, Jordan Cook, Preetish Rath </a:t>
            </a:r>
            <a:endParaRPr lang="en-US" sz="9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A1E1DD-871C-F4C6-6A8B-C8A388CF3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585" y="1787290"/>
            <a:ext cx="6174382" cy="32102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9375F"/>
                </a:solidFill>
              </a:rPr>
              <a:t>Less Time Building Proposals. More Time Winning Work.</a:t>
            </a:r>
          </a:p>
        </p:txBody>
      </p:sp>
      <p:sp>
        <p:nvSpPr>
          <p:cNvPr id="3" name="Text 1"/>
          <p:cNvSpPr/>
          <p:nvPr/>
        </p:nvSpPr>
        <p:spPr>
          <a:xfrm>
            <a:off x="603504" y="107899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RFP response teams need a faster way to understand the client, shape the strategy, and make the response feel easy.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320040" y="1517904"/>
            <a:ext cx="3474720" cy="4361688"/>
          </a:xfrm>
          <a:prstGeom prst="rect">
            <a:avLst/>
          </a:prstGeom>
          <a:solidFill>
            <a:srgbClr val="09375F"/>
          </a:solidFill>
          <a:ln/>
        </p:spPr>
        <p:txBody>
          <a:bodyPr wrap="square" lIns="3175" tIns="3175" rIns="3175" bIns="3175" rtlCol="0" anchor="ctr">
            <a:normAutofit/>
          </a:bodyPr>
          <a:lstStyle/>
          <a:p>
            <a:pPr lvl="1"/>
            <a:r>
              <a:rPr lang="en-US" sz="22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consulting firms</a:t>
            </a:r>
            <a:endParaRPr lang="en-US" sz="2200"/>
          </a:p>
          <a:p>
            <a:pPr lvl="1"/>
            <a:r>
              <a:rPr lang="en-US" sz="22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expertise.</a:t>
            </a:r>
            <a:endParaRPr lang="en-US" sz="2200"/>
          </a:p>
          <a:p>
            <a:pPr lvl="1"/>
            <a:endParaRPr lang="en-US" sz="2200"/>
          </a:p>
          <a:p>
            <a:pPr lvl="1"/>
            <a:r>
              <a:rPr lang="en-US" sz="22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Beloved brands</a:t>
            </a:r>
            <a:endParaRPr lang="en-US" sz="2200"/>
          </a:p>
          <a:p>
            <a:pPr lvl="1"/>
            <a:r>
              <a:rPr lang="en-US" sz="22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experience.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069080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Seven-Day RFP Reality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069080" y="187452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Attractive opportunity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Competitors look similar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Context is scattered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Generic approaches blur together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7543800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User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543800" y="1874520"/>
            <a:ext cx="3429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Pursuit lead, partner, SME, and proposal manager who need a strong first draft before the clock runs out.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4069080" y="3703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Principle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069080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6C6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with Aberdeen should feel easier after every interaction.</a:t>
            </a:r>
            <a:endParaRPr lang="en-US" sz="2000" i="1">
              <a:solidFill>
                <a:srgbClr val="6C6C6C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726680" y="4050792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 prep. Less jargon. Fewer dead-end meetings. More useful thinking in return.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>
          <a:xfrm>
            <a:off x="4069080" y="5376672"/>
            <a:ext cx="6903720" cy="502920"/>
          </a:xfrm>
          <a:prstGeom prst="rect">
            <a:avLst/>
          </a:prstGeom>
          <a:solidFill>
            <a:srgbClr val="E6F5F5"/>
          </a:solidFill>
          <a:ln w="12700">
            <a:solidFill>
              <a:srgbClr val="44B0B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Win condition: show client understanding, not just Aberdeen capabilities.</a:t>
            </a:r>
            <a:endParaRPr lang="en-US" sz="1400"/>
          </a:p>
        </p:txBody>
      </p:sp>
      <p:pic>
        <p:nvPicPr>
          <p:cNvPr id="13" name="Image 0" descr="/mnt/data/aberdeen_template_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446520"/>
            <a:ext cx="685800" cy="15462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09375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built: from messy inputs to first-draft strategy</a:t>
            </a:r>
            <a:endParaRPr lang="en-US" sz="2900"/>
          </a:p>
        </p:txBody>
      </p:sp>
      <p:sp>
        <p:nvSpPr>
          <p:cNvPr id="3" name="Text 1"/>
          <p:cNvSpPr/>
          <p:nvPr/>
        </p:nvSpPr>
        <p:spPr>
          <a:xfrm>
            <a:off x="603504" y="107899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grounded assistant that turns RFP context into usable pursuit materials while keeping humans in the review loop.</a:t>
            </a:r>
            <a:endParaRPr lang="en-US" sz="1250"/>
          </a:p>
        </p:txBody>
      </p:sp>
      <p:sp>
        <p:nvSpPr>
          <p:cNvPr id="5" name="Text 2"/>
          <p:cNvSpPr/>
          <p:nvPr/>
        </p:nvSpPr>
        <p:spPr>
          <a:xfrm>
            <a:off x="731520" y="176345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Inputs it reads</a:t>
            </a:r>
            <a:endParaRPr lang="en-US" sz="1450"/>
          </a:p>
        </p:txBody>
      </p:sp>
      <p:sp>
        <p:nvSpPr>
          <p:cNvPr id="6" name="Text 3"/>
          <p:cNvSpPr/>
          <p:nvPr/>
        </p:nvSpPr>
        <p:spPr>
          <a:xfrm>
            <a:off x="731520" y="214749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RFPs, client context, prior proposals, case studies, credentials, service offerings, and market research.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731520" y="322649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Outputs it drafts</a:t>
            </a:r>
            <a:endParaRPr lang="en-US" sz="1450"/>
          </a:p>
        </p:txBody>
      </p:sp>
      <p:sp>
        <p:nvSpPr>
          <p:cNvPr id="8" name="Text 5"/>
          <p:cNvSpPr/>
          <p:nvPr/>
        </p:nvSpPr>
        <p:spPr>
          <a:xfrm>
            <a:off x="731520" y="3610538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 themes, solution approach, staffing model, timeline, proposal sections, differentiators, and pitch narrative.</a:t>
            </a:r>
            <a:endParaRPr lang="en-US" sz="1500"/>
          </a:p>
        </p:txBody>
      </p:sp>
      <p:pic>
        <p:nvPicPr>
          <p:cNvPr id="12" name="Image 1" descr="/mnt/data/aberdeen_template_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446520"/>
            <a:ext cx="685800" cy="15462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09375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90B128-5696-E805-645D-3BCCCEEB6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633" y="2082148"/>
            <a:ext cx="4073245" cy="34165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BDC8A36-AAC1-E60E-B2BF-A1282175F1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35"/>
          <a:stretch>
            <a:fillRect/>
          </a:stretch>
        </p:blipFill>
        <p:spPr>
          <a:xfrm>
            <a:off x="7574282" y="3248622"/>
            <a:ext cx="4396357" cy="2787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095981-1239-43F8-67B5-76C6345006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73244"/>
            <a:ext cx="4069080" cy="107948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D2815761-87E9-288D-744A-11A3EF86A69A}"/>
              </a:ext>
            </a:extLst>
          </p:cNvPr>
          <p:cNvSpPr/>
          <p:nvPr/>
        </p:nvSpPr>
        <p:spPr>
          <a:xfrm>
            <a:off x="5345633" y="1744297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Workflow: </a:t>
            </a:r>
            <a:endParaRPr lang="en-US" sz="125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4199F90-AF5D-F368-F887-A3E81C2C0FA4}"/>
              </a:ext>
            </a:extLst>
          </p:cNvPr>
          <p:cNvSpPr/>
          <p:nvPr/>
        </p:nvSpPr>
        <p:spPr>
          <a:xfrm>
            <a:off x="6532658" y="1645374"/>
            <a:ext cx="4927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/>
              <a:t>Understand </a:t>
            </a:r>
            <a:r>
              <a:rPr lang="en-US" sz="1250">
                <a:sym typeface="Wingdings" panose="05000000000000000000" pitchFamily="2" charset="2"/>
              </a:rPr>
              <a:t> </a:t>
            </a:r>
            <a:r>
              <a:rPr lang="en-US" sz="1250"/>
              <a:t> Strategize </a:t>
            </a:r>
            <a:r>
              <a:rPr lang="en-US" sz="1250">
                <a:sym typeface="Wingdings" panose="05000000000000000000" pitchFamily="2" charset="2"/>
              </a:rPr>
              <a:t> </a:t>
            </a:r>
            <a:r>
              <a:rPr lang="en-US" sz="1250"/>
              <a:t> Match -&gt; Design </a:t>
            </a:r>
            <a:r>
              <a:rPr lang="en-US" sz="1250">
                <a:sym typeface="Wingdings" panose="05000000000000000000" pitchFamily="2" charset="2"/>
              </a:rPr>
              <a:t> </a:t>
            </a:r>
            <a:r>
              <a:rPr lang="en-US" sz="1250"/>
              <a:t>Create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Why? Win the work – Skip the Burnout</a:t>
            </a:r>
            <a:endParaRPr lang="en-US" sz="2900"/>
          </a:p>
        </p:txBody>
      </p:sp>
      <p:sp>
        <p:nvSpPr>
          <p:cNvPr id="3" name="Text 1"/>
          <p:cNvSpPr/>
          <p:nvPr/>
        </p:nvSpPr>
        <p:spPr>
          <a:xfrm>
            <a:off x="603504" y="107899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build maps directly to the judging criteria and a credible Aberdeen Labs path.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874520" cy="713232"/>
          </a:xfrm>
          <a:prstGeom prst="rect">
            <a:avLst/>
          </a:prstGeom>
          <a:solidFill>
            <a:srgbClr val="09375F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</a:t>
            </a:r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685800" y="2369119"/>
            <a:ext cx="1874520" cy="1571122"/>
          </a:xfrm>
          <a:prstGeom prst="rect">
            <a:avLst/>
          </a:prstGeom>
          <a:solidFill>
            <a:srgbClr val="F7FAFA"/>
          </a:solidFill>
          <a:ln w="10160">
            <a:noFill/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7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Client-specific pain, stakes, and buying logic.</a:t>
            </a:r>
            <a:endParaRPr lang="en-US" sz="1270"/>
          </a:p>
        </p:txBody>
      </p:sp>
      <p:sp>
        <p:nvSpPr>
          <p:cNvPr id="6" name="Text 4"/>
          <p:cNvSpPr/>
          <p:nvPr/>
        </p:nvSpPr>
        <p:spPr>
          <a:xfrm>
            <a:off x="2907792" y="1572768"/>
            <a:ext cx="1874520" cy="713232"/>
          </a:xfrm>
          <a:prstGeom prst="rect">
            <a:avLst/>
          </a:prstGeom>
          <a:solidFill>
            <a:srgbClr val="09375F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2907792" y="2369119"/>
            <a:ext cx="1874520" cy="1571122"/>
          </a:xfrm>
          <a:prstGeom prst="rect">
            <a:avLst/>
          </a:prstGeom>
          <a:solidFill>
            <a:srgbClr val="F7FAFA"/>
          </a:solidFill>
          <a:ln w="10160">
            <a:noFill/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7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Purpose-built for the seven-day pursuit sprint.</a:t>
            </a:r>
            <a:endParaRPr lang="en-US" sz="1270"/>
          </a:p>
        </p:txBody>
      </p:sp>
      <p:sp>
        <p:nvSpPr>
          <p:cNvPr id="8" name="Text 6"/>
          <p:cNvSpPr/>
          <p:nvPr/>
        </p:nvSpPr>
        <p:spPr>
          <a:xfrm>
            <a:off x="5129784" y="1572768"/>
            <a:ext cx="1874520" cy="713232"/>
          </a:xfrm>
          <a:prstGeom prst="rect">
            <a:avLst/>
          </a:prstGeom>
          <a:solidFill>
            <a:srgbClr val="09375F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5129784" y="2369119"/>
            <a:ext cx="1874520" cy="1571122"/>
          </a:xfrm>
          <a:prstGeom prst="rect">
            <a:avLst/>
          </a:prstGeom>
          <a:solidFill>
            <a:srgbClr val="F7FAFA"/>
          </a:solidFill>
          <a:ln w="10160">
            <a:noFill/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7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Grounded ingestion, structured outputs, reviewable drafts.</a:t>
            </a:r>
            <a:endParaRPr lang="en-US" sz="1270"/>
          </a:p>
        </p:txBody>
      </p:sp>
      <p:sp>
        <p:nvSpPr>
          <p:cNvPr id="10" name="Text 8"/>
          <p:cNvSpPr/>
          <p:nvPr/>
        </p:nvSpPr>
        <p:spPr>
          <a:xfrm>
            <a:off x="7351776" y="1572768"/>
            <a:ext cx="1874520" cy="713232"/>
          </a:xfrm>
          <a:prstGeom prst="rect">
            <a:avLst/>
          </a:prstGeom>
          <a:solidFill>
            <a:srgbClr val="09375F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7351776" y="2369119"/>
            <a:ext cx="1874520" cy="1571122"/>
          </a:xfrm>
          <a:prstGeom prst="rect">
            <a:avLst/>
          </a:prstGeom>
          <a:solidFill>
            <a:srgbClr val="F7FAFA"/>
          </a:solidFill>
          <a:ln w="10160">
            <a:noFill/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7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 first drafts with a more consistent Aberdeen voice.</a:t>
            </a:r>
            <a:endParaRPr lang="en-US" sz="1270"/>
          </a:p>
        </p:txBody>
      </p:sp>
      <p:sp>
        <p:nvSpPr>
          <p:cNvPr id="12" name="Text 10"/>
          <p:cNvSpPr/>
          <p:nvPr/>
        </p:nvSpPr>
        <p:spPr>
          <a:xfrm>
            <a:off x="9573768" y="1572768"/>
            <a:ext cx="1874520" cy="713232"/>
          </a:xfrm>
          <a:prstGeom prst="rect">
            <a:avLst/>
          </a:prstGeom>
          <a:solidFill>
            <a:srgbClr val="09375F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 to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9573768" y="2369119"/>
            <a:ext cx="1874520" cy="1571122"/>
          </a:xfrm>
          <a:prstGeom prst="rect">
            <a:avLst/>
          </a:prstGeom>
          <a:solidFill>
            <a:srgbClr val="F7FAFA"/>
          </a:solidFill>
          <a:ln w="10160">
            <a:noFill/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7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pilots → Labs accelerator → client-facing BD co-pilot.</a:t>
            </a:r>
            <a:endParaRPr lang="en-US" sz="1270"/>
          </a:p>
        </p:txBody>
      </p:sp>
      <p:sp>
        <p:nvSpPr>
          <p:cNvPr id="14" name="Text 12"/>
          <p:cNvSpPr/>
          <p:nvPr/>
        </p:nvSpPr>
        <p:spPr>
          <a:xfrm>
            <a:off x="82296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Aberdeen differentiator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>
          <a:xfrm>
            <a:off x="822960" y="4690872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just a proposal factory. A pursuit experience engine that makes the client feel understood before the project even starts.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7132320" y="4187952"/>
            <a:ext cx="43159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“Finally,  a clear path through an RFP”</a:t>
            </a:r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0469880" cy="512064"/>
          </a:xfrm>
          <a:prstGeom prst="rect">
            <a:avLst/>
          </a:prstGeom>
          <a:solidFill>
            <a:srgbClr val="E6F5F5"/>
          </a:solidFill>
          <a:ln w="12700">
            <a:solidFill>
              <a:srgbClr val="44B0B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093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promise: make pursuit work remarkably easy, remarkably human, and remarkably memorable.</a:t>
            </a:r>
            <a:endParaRPr lang="en-US" sz="1350"/>
          </a:p>
        </p:txBody>
      </p:sp>
      <p:pic>
        <p:nvPicPr>
          <p:cNvPr id="18" name="Image 0" descr="/mnt/data/aberdeen_template_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446520"/>
            <a:ext cx="685800" cy="15462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09375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Widescreen</PresentationFormat>
  <Paragraphs>63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Aberdeen Advisors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Pursuit Concierge</dc:title>
  <dc:subject>Hackathon challenge response</dc:subject>
  <dc:creator>Aberdeen Advisors</dc:creator>
  <cp:lastModifiedBy>Jordan Cook</cp:lastModifiedBy>
  <cp:revision>1</cp:revision>
  <dcterms:created xsi:type="dcterms:W3CDTF">2026-08-12T21:03:15Z</dcterms:created>
  <dcterms:modified xsi:type="dcterms:W3CDTF">2026-08-12T21:36:19Z</dcterms:modified>
</cp:coreProperties>
</file>