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ursuit-copilot.vercel.app/" TargetMode="Externa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7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428750"/>
            <a:ext cx="58674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90" kern="0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ABERDEEN HACKATHON 2026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533400" y="1743075"/>
            <a:ext cx="5867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Pursuit Concierge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33400" y="2533650"/>
            <a:ext cx="549402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business development assistant for the time-sensitive RFP sprint.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533400" y="3362325"/>
            <a:ext cx="68580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6" name="Text 4"/>
          <p:cNvSpPr/>
          <p:nvPr/>
        </p:nvSpPr>
        <p:spPr>
          <a:xfrm>
            <a:off x="533400" y="3619500"/>
            <a:ext cx="5867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i="1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proposal feel researched, specific, and easy to say yes to.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33400" y="4014788"/>
            <a:ext cx="58674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Team 05 | Carrie Stout, CJ Johnson, Jordan Cook, Preetish Rath</a:t>
            </a:r>
            <a:endParaRPr lang="en-US" sz="1125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33400" y="4367213"/>
            <a:ext cx="5867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at pursuit-copilot.vercel.app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86550" y="1619250"/>
            <a:ext cx="4972050" cy="2594223"/>
          </a:xfrm>
          <a:prstGeom prst="roundRect">
            <a:avLst>
              <a:gd name="adj" fmla="val 1469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5" y="1628775"/>
            <a:ext cx="4953000" cy="2575173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248400"/>
            <a:ext cx="1013892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57200"/>
            <a:ext cx="122377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Building Proposals. More Time Winning Work.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33400" y="904875"/>
            <a:ext cx="1223772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response teams need a faster way to understand the client, shape the strategy, and make the response feel easy.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533400" y="1300163"/>
            <a:ext cx="60960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538288"/>
            <a:ext cx="3555950" cy="1843088"/>
          </a:xfrm>
          <a:prstGeom prst="roundRect">
            <a:avLst>
              <a:gd name="adj" fmla="val 2067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3352800"/>
            <a:ext cx="355595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38288"/>
            <a:ext cx="355595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538288"/>
            <a:ext cx="9525" cy="184308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9" name="Shape 7"/>
          <p:cNvSpPr/>
          <p:nvPr/>
        </p:nvSpPr>
        <p:spPr>
          <a:xfrm>
            <a:off x="4079825" y="1538288"/>
            <a:ext cx="9525" cy="184308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0" name="Text 8"/>
          <p:cNvSpPr/>
          <p:nvPr/>
        </p:nvSpPr>
        <p:spPr>
          <a:xfrm>
            <a:off x="771525" y="1757363"/>
            <a:ext cx="33876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Seven-Day RFP Reality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860425" y="2076450"/>
            <a:ext cx="3067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Attractive opportunity</a:t>
            </a:r>
            <a:endParaRPr lang="en-US" sz="1125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look similar</a:t>
            </a:r>
            <a:endParaRPr lang="en-US" sz="1125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scattered</a:t>
            </a:r>
            <a:endParaRPr lang="en-US" sz="1125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approaches blur together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317950" y="1538288"/>
            <a:ext cx="3556025" cy="1843088"/>
          </a:xfrm>
          <a:prstGeom prst="roundRect">
            <a:avLst>
              <a:gd name="adj" fmla="val 2067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7950" y="3352800"/>
            <a:ext cx="3556025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7950" y="1538288"/>
            <a:ext cx="355602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7950" y="1538288"/>
            <a:ext cx="9525" cy="184308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4450" y="1538288"/>
            <a:ext cx="9525" cy="184308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7" name="Text 15"/>
          <p:cNvSpPr/>
          <p:nvPr/>
        </p:nvSpPr>
        <p:spPr>
          <a:xfrm>
            <a:off x="4556075" y="1757363"/>
            <a:ext cx="33877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4556075" y="2076450"/>
            <a:ext cx="3172168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Pursuit lead, partner, SME, and proposal manager who need a strong first draft before the clock runs out.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8102575" y="1538288"/>
            <a:ext cx="3556025" cy="1843088"/>
          </a:xfrm>
          <a:prstGeom prst="roundRect">
            <a:avLst>
              <a:gd name="adj" fmla="val 2067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02575" y="3352800"/>
            <a:ext cx="3556025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2575" y="1538288"/>
            <a:ext cx="355602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2" name="Shape 20"/>
          <p:cNvSpPr/>
          <p:nvPr/>
        </p:nvSpPr>
        <p:spPr>
          <a:xfrm>
            <a:off x="8102575" y="1538288"/>
            <a:ext cx="9525" cy="184308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49075" y="1538288"/>
            <a:ext cx="9525" cy="184308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4" name="Text 22"/>
          <p:cNvSpPr/>
          <p:nvPr/>
        </p:nvSpPr>
        <p:spPr>
          <a:xfrm>
            <a:off x="8340700" y="1757363"/>
            <a:ext cx="338775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8340700" y="2076450"/>
            <a:ext cx="317216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Aberdeen should feel easier after every interaction.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8340700" y="2657475"/>
            <a:ext cx="317216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prep. Less jargon. Fewer dead-end meetings. More useful thinking in return.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533400" y="3629025"/>
            <a:ext cx="11125200" cy="652463"/>
          </a:xfrm>
          <a:prstGeom prst="roundRect">
            <a:avLst>
              <a:gd name="adj" fmla="val 5839"/>
            </a:avLst>
          </a:prstGeom>
          <a:solidFill>
            <a:srgbClr val="09375F"/>
          </a:solidFill>
          <a:ln/>
        </p:spPr>
      </p:sp>
      <p:sp>
        <p:nvSpPr>
          <p:cNvPr id="28" name="Text 26"/>
          <p:cNvSpPr/>
          <p:nvPr/>
        </p:nvSpPr>
        <p:spPr>
          <a:xfrm>
            <a:off x="633222" y="3819525"/>
            <a:ext cx="10925556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consulting firms market </a:t>
            </a:r>
            <a:pPr algn="ctr" indent="0" marL="0">
              <a:buNone/>
            </a:pPr>
            <a:r>
              <a:rPr lang="en-US" sz="14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</a:t>
            </a:r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Beloved brands market </a:t>
            </a:r>
            <a:pPr algn="ctr" indent="0" marL="0">
              <a:buNone/>
            </a:pPr>
            <a:r>
              <a:rPr lang="en-US" sz="14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3400" y="5605463"/>
            <a:ext cx="11125200" cy="414338"/>
          </a:xfrm>
          <a:prstGeom prst="roundRect">
            <a:avLst>
              <a:gd name="adj" fmla="val 6897"/>
            </a:avLst>
          </a:prstGeom>
          <a:solidFill>
            <a:srgbClr val="D6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" y="5719763"/>
            <a:ext cx="110398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i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condition: show client understanding, not just Aberdeen capabilities.</a:t>
            </a:r>
            <a:endParaRPr lang="en-US" sz="1275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6248400"/>
            <a:ext cx="1013892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581879" y="6276975"/>
            <a:ext cx="15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57200"/>
            <a:ext cx="122377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built: from messy inputs to first-draft strategy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33400" y="904875"/>
            <a:ext cx="1223772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grounded assistant that turns RFP context into usable pursuit materials while keeping humans in the review loop.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533400" y="1300163"/>
            <a:ext cx="60960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519238"/>
            <a:ext cx="5448300" cy="960983"/>
          </a:xfrm>
          <a:prstGeom prst="roundRect">
            <a:avLst>
              <a:gd name="adj" fmla="val 3965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2451646"/>
            <a:ext cx="544830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19238"/>
            <a:ext cx="54483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519238"/>
            <a:ext cx="9525" cy="960983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9" name="Shape 7"/>
          <p:cNvSpPr/>
          <p:nvPr/>
        </p:nvSpPr>
        <p:spPr>
          <a:xfrm>
            <a:off x="5972175" y="1519238"/>
            <a:ext cx="9525" cy="960983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0" name="Text 8"/>
          <p:cNvSpPr/>
          <p:nvPr/>
        </p:nvSpPr>
        <p:spPr>
          <a:xfrm>
            <a:off x="752475" y="1662113"/>
            <a:ext cx="55111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it reads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52475" y="1905000"/>
            <a:ext cx="516045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RFPs, client context, prior proposals, case studies, credentials, service offerings, and market research.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0300" y="1519238"/>
            <a:ext cx="5448300" cy="960983"/>
          </a:xfrm>
          <a:prstGeom prst="roundRect">
            <a:avLst>
              <a:gd name="adj" fmla="val 3965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0300" y="2451646"/>
            <a:ext cx="544830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0300" y="1519238"/>
            <a:ext cx="544830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0300" y="1519238"/>
            <a:ext cx="9525" cy="960983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49075" y="1519238"/>
            <a:ext cx="9525" cy="960983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9375" y="1662113"/>
            <a:ext cx="551116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it drafts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429375" y="1905000"/>
            <a:ext cx="516045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themes, solution approach, staffing model, timeline, proposal sections, differentiators, and pitch narrative.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3400" y="2718346"/>
            <a:ext cx="10476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638226" y="2632621"/>
            <a:ext cx="1151930" cy="333375"/>
          </a:xfrm>
          <a:prstGeom prst="roundRect">
            <a:avLst>
              <a:gd name="adj" fmla="val 8571"/>
            </a:avLst>
          </a:prstGeom>
          <a:solidFill>
            <a:srgbClr val="09375F"/>
          </a:solidFill>
          <a:ln/>
        </p:spPr>
      </p:sp>
      <p:sp>
        <p:nvSpPr>
          <p:cNvPr id="21" name="Text 19"/>
          <p:cNvSpPr/>
          <p:nvPr/>
        </p:nvSpPr>
        <p:spPr>
          <a:xfrm>
            <a:off x="1790626" y="2689771"/>
            <a:ext cx="9233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923505" y="2711202"/>
            <a:ext cx="228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9255" y="2632621"/>
            <a:ext cx="1027361" cy="333375"/>
          </a:xfrm>
          <a:prstGeom prst="roundRect">
            <a:avLst>
              <a:gd name="adj" fmla="val 8571"/>
            </a:avLst>
          </a:prstGeom>
          <a:solidFill>
            <a:srgbClr val="09375F"/>
          </a:solidFill>
          <a:ln/>
        </p:spPr>
      </p:sp>
      <p:sp>
        <p:nvSpPr>
          <p:cNvPr id="24" name="Text 22"/>
          <p:cNvSpPr/>
          <p:nvPr/>
        </p:nvSpPr>
        <p:spPr>
          <a:xfrm>
            <a:off x="3361655" y="2689771"/>
            <a:ext cx="7987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369966" y="2711202"/>
            <a:ext cx="228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55716" y="2632621"/>
            <a:ext cx="759321" cy="333375"/>
          </a:xfrm>
          <a:prstGeom prst="roundRect">
            <a:avLst>
              <a:gd name="adj" fmla="val 8571"/>
            </a:avLst>
          </a:prstGeom>
          <a:solidFill>
            <a:srgbClr val="09375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8116" y="2689771"/>
            <a:ext cx="53072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548387" y="2711202"/>
            <a:ext cx="228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34137" y="2632621"/>
            <a:ext cx="797868" cy="333375"/>
          </a:xfrm>
          <a:prstGeom prst="roundRect">
            <a:avLst>
              <a:gd name="adj" fmla="val 8571"/>
            </a:avLst>
          </a:prstGeom>
          <a:solidFill>
            <a:srgbClr val="09375F"/>
          </a:solidFill>
          <a:ln/>
        </p:spPr>
      </p:sp>
      <p:sp>
        <p:nvSpPr>
          <p:cNvPr id="30" name="Text 28"/>
          <p:cNvSpPr/>
          <p:nvPr/>
        </p:nvSpPr>
        <p:spPr>
          <a:xfrm>
            <a:off x="5986537" y="2689771"/>
            <a:ext cx="5692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765354" y="2711202"/>
            <a:ext cx="22860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51104" y="2632621"/>
            <a:ext cx="796454" cy="333375"/>
          </a:xfrm>
          <a:prstGeom prst="roundRect">
            <a:avLst>
              <a:gd name="adj" fmla="val 8571"/>
            </a:avLst>
          </a:prstGeom>
          <a:solidFill>
            <a:srgbClr val="09375F"/>
          </a:solidFill>
          <a:ln/>
        </p:spPr>
      </p:sp>
      <p:sp>
        <p:nvSpPr>
          <p:cNvPr id="33" name="Text 31"/>
          <p:cNvSpPr/>
          <p:nvPr/>
        </p:nvSpPr>
        <p:spPr>
          <a:xfrm>
            <a:off x="7203504" y="2689771"/>
            <a:ext cx="5678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533400" y="3118396"/>
            <a:ext cx="35813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RFP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533400" y="3356521"/>
            <a:ext cx="3255764" cy="1924050"/>
          </a:xfrm>
          <a:prstGeom prst="roundRect">
            <a:avLst>
              <a:gd name="adj" fmla="val 1980"/>
            </a:avLst>
          </a:prstGeom>
          <a:solidFill>
            <a:srgbClr val="F7F9FA"/>
          </a:solidFill>
          <a:ln w="9525">
            <a:solidFill>
              <a:srgbClr val="E9E9E9"/>
            </a:solidFill>
            <a:prstDash val="solid"/>
          </a:ln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02679" y="3366046"/>
            <a:ext cx="3117205" cy="190492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3979664" y="3118396"/>
            <a:ext cx="46558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 fills tab-by-tab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3979664" y="3356521"/>
            <a:ext cx="4232597" cy="1924050"/>
          </a:xfrm>
          <a:prstGeom prst="roundRect">
            <a:avLst>
              <a:gd name="adj" fmla="val 1980"/>
            </a:avLst>
          </a:prstGeom>
          <a:solidFill>
            <a:srgbClr val="F7F9FA"/>
          </a:solidFill>
          <a:ln w="9525">
            <a:solidFill>
              <a:srgbClr val="E9E9E9"/>
            </a:solidFill>
            <a:prstDash val="solid"/>
          </a:ln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5116264" y="3366046"/>
            <a:ext cx="1959397" cy="1904926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402762" y="3118396"/>
            <a:ext cx="35813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themes, human element first</a:t>
            </a:r>
            <a:endParaRPr lang="en-US" sz="1125" dirty="0"/>
          </a:p>
        </p:txBody>
      </p:sp>
      <p:sp>
        <p:nvSpPr>
          <p:cNvPr id="41" name="Shape 37"/>
          <p:cNvSpPr/>
          <p:nvPr/>
        </p:nvSpPr>
        <p:spPr>
          <a:xfrm>
            <a:off x="8402762" y="3356521"/>
            <a:ext cx="3255764" cy="1924050"/>
          </a:xfrm>
          <a:prstGeom prst="roundRect">
            <a:avLst>
              <a:gd name="adj" fmla="val 1980"/>
            </a:avLst>
          </a:prstGeom>
          <a:solidFill>
            <a:srgbClr val="F7F9FA"/>
          </a:solidFill>
          <a:ln w="9525">
            <a:solidFill>
              <a:srgbClr val="E9E9E9"/>
            </a:solidFill>
            <a:prstDash val="solid"/>
          </a:ln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73394" y="3366046"/>
            <a:ext cx="1714500" cy="19050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533400" y="5605463"/>
            <a:ext cx="11125200" cy="414338"/>
          </a:xfrm>
          <a:prstGeom prst="roundRect">
            <a:avLst>
              <a:gd name="adj" fmla="val 6897"/>
            </a:avLst>
          </a:prstGeom>
          <a:solidFill>
            <a:srgbClr val="D6EEEE"/>
          </a:solidFill>
          <a:ln/>
        </p:spPr>
      </p:sp>
      <p:sp>
        <p:nvSpPr>
          <p:cNvPr id="44" name="Text 39"/>
          <p:cNvSpPr/>
          <p:nvPr/>
        </p:nvSpPr>
        <p:spPr>
          <a:xfrm>
            <a:off x="576072" y="5719763"/>
            <a:ext cx="110398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i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analysis time: 2–6 minutes from upload to a complete pursuit brief.</a:t>
            </a:r>
            <a:endParaRPr lang="en-US" sz="1275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248400"/>
            <a:ext cx="1013892" cy="22860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1580019" y="6276975"/>
            <a:ext cx="1547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57200"/>
            <a:ext cx="122377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Win the work – Skip the Burnout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33400" y="904875"/>
            <a:ext cx="1223772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maps directly to the judging criteria and a credible Aberdeen Labs path.</a:t>
            </a:r>
            <a:endParaRPr lang="en-US" sz="1275" dirty="0"/>
          </a:p>
        </p:txBody>
      </p:sp>
      <p:sp>
        <p:nvSpPr>
          <p:cNvPr id="4" name="Shape 2"/>
          <p:cNvSpPr/>
          <p:nvPr/>
        </p:nvSpPr>
        <p:spPr>
          <a:xfrm>
            <a:off x="533400" y="1300163"/>
            <a:ext cx="60960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538288"/>
            <a:ext cx="2103090" cy="1193155"/>
          </a:xfrm>
          <a:prstGeom prst="roundRect">
            <a:avLst>
              <a:gd name="adj" fmla="val 3193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2702868"/>
            <a:ext cx="210309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38288"/>
            <a:ext cx="210309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9" name="Shape 7"/>
          <p:cNvSpPr/>
          <p:nvPr/>
        </p:nvSpPr>
        <p:spPr>
          <a:xfrm>
            <a:off x="2626965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0" name="Text 8"/>
          <p:cNvSpPr/>
          <p:nvPr/>
        </p:nvSpPr>
        <p:spPr>
          <a:xfrm>
            <a:off x="695325" y="1700213"/>
            <a:ext cx="19571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5325" y="1952625"/>
            <a:ext cx="185544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Client-specific pain, stakes, and buying logic.</a:t>
            </a:r>
            <a:endParaRPr lang="en-US" sz="1013" dirty="0"/>
          </a:p>
        </p:txBody>
      </p:sp>
      <p:sp>
        <p:nvSpPr>
          <p:cNvPr id="12" name="Shape 10"/>
          <p:cNvSpPr/>
          <p:nvPr/>
        </p:nvSpPr>
        <p:spPr>
          <a:xfrm>
            <a:off x="2788890" y="1538288"/>
            <a:ext cx="2103090" cy="1193155"/>
          </a:xfrm>
          <a:prstGeom prst="roundRect">
            <a:avLst>
              <a:gd name="adj" fmla="val 3193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890" y="2702868"/>
            <a:ext cx="210309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890" y="1538288"/>
            <a:ext cx="210309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5" name="Shape 13"/>
          <p:cNvSpPr/>
          <p:nvPr/>
        </p:nvSpPr>
        <p:spPr>
          <a:xfrm>
            <a:off x="2788890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2455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7" name="Text 15"/>
          <p:cNvSpPr/>
          <p:nvPr/>
        </p:nvSpPr>
        <p:spPr>
          <a:xfrm>
            <a:off x="2950815" y="1700213"/>
            <a:ext cx="19571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fit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50815" y="1952625"/>
            <a:ext cx="185544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the seven-day pursuit sprint.</a:t>
            </a:r>
            <a:endParaRPr lang="en-US" sz="1013" dirty="0"/>
          </a:p>
        </p:txBody>
      </p:sp>
      <p:sp>
        <p:nvSpPr>
          <p:cNvPr id="19" name="Shape 17"/>
          <p:cNvSpPr/>
          <p:nvPr/>
        </p:nvSpPr>
        <p:spPr>
          <a:xfrm>
            <a:off x="5044380" y="1538288"/>
            <a:ext cx="2103165" cy="1193155"/>
          </a:xfrm>
          <a:prstGeom prst="roundRect">
            <a:avLst>
              <a:gd name="adj" fmla="val 3193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44380" y="2702868"/>
            <a:ext cx="2103165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21" name="Shape 19"/>
          <p:cNvSpPr/>
          <p:nvPr/>
        </p:nvSpPr>
        <p:spPr>
          <a:xfrm>
            <a:off x="5044380" y="1538288"/>
            <a:ext cx="210316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44380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8020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4" name="Text 22"/>
          <p:cNvSpPr/>
          <p:nvPr/>
        </p:nvSpPr>
        <p:spPr>
          <a:xfrm>
            <a:off x="5206305" y="1700213"/>
            <a:ext cx="195724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quality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06305" y="1952625"/>
            <a:ext cx="1855515" cy="635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ingestion, structured outputs, reviewable drafts.</a:t>
            </a:r>
            <a:endParaRPr lang="en-US" sz="1013" dirty="0"/>
          </a:p>
        </p:txBody>
      </p:sp>
      <p:sp>
        <p:nvSpPr>
          <p:cNvPr id="26" name="Shape 24"/>
          <p:cNvSpPr/>
          <p:nvPr/>
        </p:nvSpPr>
        <p:spPr>
          <a:xfrm>
            <a:off x="7299945" y="1538288"/>
            <a:ext cx="2103090" cy="1193155"/>
          </a:xfrm>
          <a:prstGeom prst="roundRect">
            <a:avLst>
              <a:gd name="adj" fmla="val 3193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99945" y="2702868"/>
            <a:ext cx="2103090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9945" y="1538288"/>
            <a:ext cx="2103090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9" name="Shape 27"/>
          <p:cNvSpPr/>
          <p:nvPr/>
        </p:nvSpPr>
        <p:spPr>
          <a:xfrm>
            <a:off x="7299945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0" name="Shape 28"/>
          <p:cNvSpPr/>
          <p:nvPr/>
        </p:nvSpPr>
        <p:spPr>
          <a:xfrm>
            <a:off x="9393510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1" name="Text 29"/>
          <p:cNvSpPr/>
          <p:nvPr/>
        </p:nvSpPr>
        <p:spPr>
          <a:xfrm>
            <a:off x="7461870" y="1700213"/>
            <a:ext cx="19571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61870" y="1952625"/>
            <a:ext cx="1855440" cy="635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first drafts with a more consistent Aberdeen voice.</a:t>
            </a:r>
            <a:endParaRPr lang="en-US" sz="1013" dirty="0"/>
          </a:p>
        </p:txBody>
      </p:sp>
      <p:sp>
        <p:nvSpPr>
          <p:cNvPr id="33" name="Shape 31"/>
          <p:cNvSpPr/>
          <p:nvPr/>
        </p:nvSpPr>
        <p:spPr>
          <a:xfrm>
            <a:off x="9555435" y="1538288"/>
            <a:ext cx="2103165" cy="1193155"/>
          </a:xfrm>
          <a:prstGeom prst="roundRect">
            <a:avLst>
              <a:gd name="adj" fmla="val 3193"/>
            </a:avLst>
          </a:prstGeom>
          <a:ln/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555435" y="2702868"/>
            <a:ext cx="2103165" cy="28575"/>
          </a:xfrm>
          <a:prstGeom prst="rect">
            <a:avLst/>
          </a:prstGeom>
          <a:solidFill>
            <a:srgbClr val="44B0B1"/>
          </a:solidFill>
          <a:ln/>
        </p:spPr>
      </p:sp>
      <p:sp>
        <p:nvSpPr>
          <p:cNvPr id="35" name="Shape 33"/>
          <p:cNvSpPr/>
          <p:nvPr/>
        </p:nvSpPr>
        <p:spPr>
          <a:xfrm>
            <a:off x="9555435" y="1538288"/>
            <a:ext cx="2103165" cy="952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6" name="Shape 34"/>
          <p:cNvSpPr/>
          <p:nvPr/>
        </p:nvSpPr>
        <p:spPr>
          <a:xfrm>
            <a:off x="9555435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49075" y="1538288"/>
            <a:ext cx="9525" cy="1193155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8" name="Text 36"/>
          <p:cNvSpPr/>
          <p:nvPr/>
        </p:nvSpPr>
        <p:spPr>
          <a:xfrm>
            <a:off x="9717360" y="1700213"/>
            <a:ext cx="195724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market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17360" y="1952625"/>
            <a:ext cx="1855515" cy="635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pilots → Labs accelerator → client-facing BD co-pilot.</a:t>
            </a:r>
            <a:endParaRPr lang="en-US" sz="1013" dirty="0"/>
          </a:p>
        </p:txBody>
      </p:sp>
      <p:sp>
        <p:nvSpPr>
          <p:cNvPr id="40" name="Shape 38"/>
          <p:cNvSpPr/>
          <p:nvPr/>
        </p:nvSpPr>
        <p:spPr>
          <a:xfrm>
            <a:off x="533400" y="2940993"/>
            <a:ext cx="4505623" cy="2128689"/>
          </a:xfrm>
          <a:prstGeom prst="roundRect">
            <a:avLst>
              <a:gd name="adj" fmla="val 1790"/>
            </a:avLst>
          </a:prstGeom>
          <a:solidFill>
            <a:srgbClr val="09375F"/>
          </a:solidFill>
          <a:ln/>
        </p:spPr>
      </p:sp>
      <p:sp>
        <p:nvSpPr>
          <p:cNvPr id="41" name="Text 39"/>
          <p:cNvSpPr/>
          <p:nvPr/>
        </p:nvSpPr>
        <p:spPr>
          <a:xfrm>
            <a:off x="781050" y="3131493"/>
            <a:ext cx="441135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44B0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ABERDEEN DIFFERENTIATOR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781050" y="3355330"/>
            <a:ext cx="413063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 proposal factory. A pursuit experience engine that makes the client feel understood before the project even starts.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29523" y="2940993"/>
            <a:ext cx="3119289" cy="2128689"/>
          </a:xfrm>
          <a:prstGeom prst="roundRect">
            <a:avLst>
              <a:gd name="adj" fmla="val 1790"/>
            </a:avLst>
          </a:prstGeom>
          <a:ln w="9525">
            <a:solidFill>
              <a:srgbClr val="E9E9E9"/>
            </a:solidFill>
            <a:prstDash val="solid"/>
          </a:ln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698" y="3765352"/>
            <a:ext cx="2683087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“Finally, a clear path through an RFP”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539311" y="2940993"/>
            <a:ext cx="32127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exports: executive deck (.pptx) + proposal starter (.docx)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39311" y="3302943"/>
            <a:ext cx="3119214" cy="1766739"/>
          </a:xfrm>
          <a:prstGeom prst="roundRect">
            <a:avLst>
              <a:gd name="adj" fmla="val 2157"/>
            </a:avLst>
          </a:prstGeom>
          <a:solidFill>
            <a:srgbClr val="F7F9FA"/>
          </a:solidFill>
          <a:ln w="9525">
            <a:solidFill>
              <a:srgbClr val="E9E9E9"/>
            </a:solidFill>
            <a:prstDash val="solid"/>
          </a:ln>
          <a:effectLst>
            <a:outerShdw sx="100000" sy="100000" kx="0" ky="0" algn="bl" rotWithShape="0" blurRad="28575" dist="9525" dir="5400000">
              <a:srgbClr val="09375F">
                <a:alpha val="10000"/>
              </a:srgbClr>
            </a:outerShdw>
          </a:effectLst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8548836" y="3312468"/>
            <a:ext cx="3100090" cy="1747614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533400" y="5605463"/>
            <a:ext cx="11125200" cy="414338"/>
          </a:xfrm>
          <a:prstGeom prst="roundRect">
            <a:avLst>
              <a:gd name="adj" fmla="val 6897"/>
            </a:avLst>
          </a:prstGeom>
          <a:solidFill>
            <a:srgbClr val="D6EEEE"/>
          </a:solidFill>
          <a:ln/>
        </p:spPr>
      </p:sp>
      <p:sp>
        <p:nvSpPr>
          <p:cNvPr id="49" name="Text 46"/>
          <p:cNvSpPr/>
          <p:nvPr/>
        </p:nvSpPr>
        <p:spPr>
          <a:xfrm>
            <a:off x="576072" y="5719763"/>
            <a:ext cx="1103985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i="1" dirty="0">
                <a:solidFill>
                  <a:srgbClr val="0937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promise: make pursuit work remarkably easy, remarkably human, and remarkably memorable.</a:t>
            </a:r>
            <a:endParaRPr lang="en-US" sz="1275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248400"/>
            <a:ext cx="1013892" cy="22860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11574661" y="6276975"/>
            <a:ext cx="1601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2026-08-12T23:51:02Z</dcterms:created>
  <dcterms:modified xsi:type="dcterms:W3CDTF">2026-08-12T23:51:02Z</dcterms:modified>
</cp:coreProperties>
</file>